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304" r:id="rId21"/>
    <p:sldId id="305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3" r:id="rId47"/>
    <p:sldId id="300" r:id="rId48"/>
    <p:sldId id="301" r:id="rId49"/>
    <p:sldId id="302" r:id="rId50"/>
  </p:sldIdLst>
  <p:sldSz cx="9144000" cy="5143500" type="screen16x9"/>
  <p:notesSz cx="6858000" cy="9144000"/>
  <p:embeddedFontLst>
    <p:embeddedFont>
      <p:font typeface="DM Sans" pitchFamily="2" charset="0"/>
      <p:regular r:id="rId52"/>
      <p:bold r:id="rId53"/>
      <p:italic r:id="rId54"/>
      <p:boldItalic r:id="rId55"/>
    </p:embeddedFont>
    <p:embeddedFont>
      <p:font typeface="Funnel Display" panose="020B0604020202020204" charset="0"/>
      <p:regular r:id="rId56"/>
      <p:bold r:id="rId57"/>
    </p:embeddedFont>
    <p:embeddedFont>
      <p:font typeface="Noto Sans Arabic" panose="020B0604020202020204" charset="-78"/>
      <p:regular r:id="rId58"/>
      <p:bold r:id="rId59"/>
    </p:embeddedFont>
    <p:embeddedFont>
      <p:font typeface="Nunito Light" pitchFamily="2" charset="0"/>
      <p:regular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1" name="Google Shape;20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ddfcc795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g3dddfcc795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de9345992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dde9345992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de9345992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de9345992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de9345992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dde9345992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de9345992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de9345992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de9345992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5" name="Google Shape;295;g3dde9345992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dde9345992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dde9345992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de9345992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dde9345992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de9345992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dde9345992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de9345992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dde9345992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dde9345992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dde9345992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dde9345992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dde9345992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dde9345992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dde9345992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dde9345992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dde9345992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dde9345992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dde9345992_0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dde934599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9" name="Google Shape;469;g3dde934599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dde934599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dde934599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dde934599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dde9345992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dde9345992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dde9345992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dde9345992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dde9345992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dde934599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dde934599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dde9345992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dde9345992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dde9345992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dde9345992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dde9345992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7" name="Google Shape;577;g3dde9345992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dde9345992_0_3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dde9345992_0_3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dde9345992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dde9345992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dde9345992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dde9345992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dde9345992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dde9345992_0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dde9345992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dde9345992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dde9345992_0_3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5" name="Google Shape;655;g3dde9345992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dde934599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61" name="Google Shape;661;g3dde934599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8" name="Google Shape;688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shadow-background-natural-palm-leaves.jpg"/>
          <p:cNvPicPr preferRelativeResize="0"/>
          <p:nvPr/>
        </p:nvPicPr>
        <p:blipFill rotWithShape="1">
          <a:blip r:embed="rId2">
            <a:alphaModFix/>
          </a:blip>
          <a:srcRect b="15598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>
            <a:off x="243300" y="259500"/>
            <a:ext cx="8657400" cy="462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70625" y="828100"/>
            <a:ext cx="8116200" cy="13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57100" y="3834200"/>
            <a:ext cx="8029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2_1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483675" y="238188"/>
            <a:ext cx="46443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>
            <a:spLocks noGrp="1"/>
          </p:cNvSpPr>
          <p:nvPr>
            <p:ph type="pic" idx="2"/>
          </p:nvPr>
        </p:nvSpPr>
        <p:spPr>
          <a:xfrm>
            <a:off x="228550" y="233400"/>
            <a:ext cx="3009000" cy="4676700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483675" y="1715200"/>
            <a:ext cx="46443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720000" y="1160700"/>
            <a:ext cx="77040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pic>
        <p:nvPicPr>
          <p:cNvPr id="20" name="Google Shape;20;p4" title="shadow-background-natural-palm-leaves.jpg"/>
          <p:cNvPicPr preferRelativeResize="0"/>
          <p:nvPr/>
        </p:nvPicPr>
        <p:blipFill rotWithShape="1">
          <a:blip r:embed="rId2">
            <a:alphaModFix/>
          </a:blip>
          <a:srcRect l="49537" r="49537"/>
          <a:stretch/>
        </p:blipFill>
        <p:spPr>
          <a:xfrm rot="5400000">
            <a:off x="4536451" y="591802"/>
            <a:ext cx="121375" cy="87371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4"/>
          <p:cNvCxnSpPr/>
          <p:nvPr/>
        </p:nvCxnSpPr>
        <p:spPr>
          <a:xfrm>
            <a:off x="218850" y="235950"/>
            <a:ext cx="87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 title="abstract-grainy-texture-background (2).jpg"/>
          <p:cNvPicPr preferRelativeResize="0"/>
          <p:nvPr/>
        </p:nvPicPr>
        <p:blipFill rotWithShape="1">
          <a:blip r:embed="rId2">
            <a:alphaModFix/>
          </a:blip>
          <a:srcRect b="1536"/>
          <a:stretch/>
        </p:blipFill>
        <p:spPr>
          <a:xfrm>
            <a:off x="0" y="0"/>
            <a:ext cx="91439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243300" y="259500"/>
            <a:ext cx="8657400" cy="462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176150" y="1670492"/>
            <a:ext cx="4342200" cy="17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542675" y="2965200"/>
            <a:ext cx="30147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 idx="2"/>
          </p:nvPr>
        </p:nvSpPr>
        <p:spPr>
          <a:xfrm>
            <a:off x="464025" y="424696"/>
            <a:ext cx="8598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_2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 title="silhouette-person-city (2).jpg"/>
          <p:cNvPicPr preferRelativeResize="0"/>
          <p:nvPr/>
        </p:nvPicPr>
        <p:blipFill rotWithShape="1">
          <a:blip r:embed="rId2">
            <a:alphaModFix/>
          </a:blip>
          <a:srcRect b="15419"/>
          <a:stretch/>
        </p:blipFill>
        <p:spPr>
          <a:xfrm>
            <a:off x="-2" y="0"/>
            <a:ext cx="9144003" cy="51435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0" name="Google Shape;30;p6"/>
          <p:cNvSpPr/>
          <p:nvPr/>
        </p:nvSpPr>
        <p:spPr>
          <a:xfrm>
            <a:off x="243300" y="259500"/>
            <a:ext cx="8657400" cy="462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571475" y="521225"/>
            <a:ext cx="8001000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ubTitle" idx="1"/>
          </p:nvPr>
        </p:nvSpPr>
        <p:spPr>
          <a:xfrm>
            <a:off x="2840200" y="1274600"/>
            <a:ext cx="5583900" cy="3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716350" y="656650"/>
            <a:ext cx="4872900" cy="11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486700" y="3628850"/>
            <a:ext cx="3776100" cy="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>
            <a:spLocks noGrp="1"/>
          </p:cNvSpPr>
          <p:nvPr>
            <p:ph type="pic" idx="2"/>
          </p:nvPr>
        </p:nvSpPr>
        <p:spPr>
          <a:xfrm>
            <a:off x="5657675" y="2524725"/>
            <a:ext cx="2454600" cy="1621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557100" y="1771800"/>
            <a:ext cx="56574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218850" y="252463"/>
            <a:ext cx="87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9"/>
          <p:cNvCxnSpPr/>
          <p:nvPr/>
        </p:nvCxnSpPr>
        <p:spPr>
          <a:xfrm>
            <a:off x="218850" y="4891038"/>
            <a:ext cx="87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>
            <a:spLocks noGrp="1"/>
          </p:cNvSpPr>
          <p:nvPr>
            <p:ph type="pic" idx="2"/>
          </p:nvPr>
        </p:nvSpPr>
        <p:spPr>
          <a:xfrm>
            <a:off x="-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4903975" y="529125"/>
            <a:ext cx="3565200" cy="41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2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8600" y="3163350"/>
            <a:ext cx="4383600" cy="15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title" idx="2"/>
          </p:nvPr>
        </p:nvSpPr>
        <p:spPr>
          <a:xfrm>
            <a:off x="437825" y="460350"/>
            <a:ext cx="1332600" cy="6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1"/>
          <p:cNvSpPr>
            <a:spLocks noGrp="1"/>
          </p:cNvSpPr>
          <p:nvPr>
            <p:ph type="pic" idx="3"/>
          </p:nvPr>
        </p:nvSpPr>
        <p:spPr>
          <a:xfrm>
            <a:off x="6214025" y="151774"/>
            <a:ext cx="2760600" cy="4839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5228925" y="2268750"/>
            <a:ext cx="3335100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>
            <a:spLocks noGrp="1"/>
          </p:cNvSpPr>
          <p:nvPr>
            <p:ph type="pic" idx="2"/>
          </p:nvPr>
        </p:nvSpPr>
        <p:spPr>
          <a:xfrm>
            <a:off x="1734212" y="100"/>
            <a:ext cx="3204000" cy="26124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2"/>
          <p:cNvSpPr>
            <a:spLocks noGrp="1"/>
          </p:cNvSpPr>
          <p:nvPr>
            <p:ph type="pic" idx="3"/>
          </p:nvPr>
        </p:nvSpPr>
        <p:spPr>
          <a:xfrm>
            <a:off x="0" y="100"/>
            <a:ext cx="1683900" cy="26124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2"/>
          <p:cNvSpPr>
            <a:spLocks noGrp="1"/>
          </p:cNvSpPr>
          <p:nvPr>
            <p:ph type="pic" idx="4"/>
          </p:nvPr>
        </p:nvSpPr>
        <p:spPr>
          <a:xfrm>
            <a:off x="0" y="2664100"/>
            <a:ext cx="3288000" cy="24795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2"/>
          <p:cNvSpPr>
            <a:spLocks noGrp="1"/>
          </p:cNvSpPr>
          <p:nvPr>
            <p:ph type="pic" idx="5"/>
          </p:nvPr>
        </p:nvSpPr>
        <p:spPr>
          <a:xfrm>
            <a:off x="3336275" y="2664050"/>
            <a:ext cx="1607100" cy="2479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5" name="Google Shape;55;p12"/>
          <p:cNvCxnSpPr/>
          <p:nvPr/>
        </p:nvCxnSpPr>
        <p:spPr>
          <a:xfrm>
            <a:off x="8915400" y="357900"/>
            <a:ext cx="0" cy="442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CUSTOM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3" title="monochromatic-urban-minimal-landscape (4).jpg"/>
          <p:cNvPicPr preferRelativeResize="0"/>
          <p:nvPr/>
        </p:nvPicPr>
        <p:blipFill rotWithShape="1">
          <a:blip r:embed="rId2">
            <a:alphaModFix/>
          </a:blip>
          <a:srcRect t="7798" b="7807"/>
          <a:stretch/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/>
        </p:nvSpPr>
        <p:spPr>
          <a:xfrm>
            <a:off x="243300" y="259500"/>
            <a:ext cx="8657400" cy="462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544050" y="457800"/>
            <a:ext cx="8055900" cy="41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444700" y="238200"/>
            <a:ext cx="54999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4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566419" y="1296900"/>
            <a:ext cx="53784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458100" y="3507650"/>
            <a:ext cx="31125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200" b="1" i="0" u="sng" strike="noStrike" cap="non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2"/>
              </a:rPr>
              <a:t>Slidesgo</a:t>
            </a:r>
            <a:r>
              <a:rPr lang="en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icons, and infographics &amp; images by </a:t>
            </a:r>
            <a:r>
              <a:rPr lang="en" sz="1200" b="1" i="0" u="sng" strike="noStrike" cap="non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Freepik</a:t>
            </a:r>
            <a:r>
              <a:rPr lang="en" sz="1200" b="0" i="0" u="sng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200" b="1" i="0" u="sng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cxnSp>
        <p:nvCxnSpPr>
          <p:cNvPr id="66" name="Google Shape;66;p15"/>
          <p:cNvCxnSpPr/>
          <p:nvPr/>
        </p:nvCxnSpPr>
        <p:spPr>
          <a:xfrm>
            <a:off x="218850" y="235950"/>
            <a:ext cx="87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USTOM_2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>
            <a:spLocks noGrp="1"/>
          </p:cNvSpPr>
          <p:nvPr>
            <p:ph type="pic" idx="2"/>
          </p:nvPr>
        </p:nvSpPr>
        <p:spPr>
          <a:xfrm>
            <a:off x="-6750" y="-347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-7865" y="4055825"/>
            <a:ext cx="3565200" cy="412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subTitle" idx="1"/>
          </p:nvPr>
        </p:nvSpPr>
        <p:spPr>
          <a:xfrm>
            <a:off x="5712000" y="4494125"/>
            <a:ext cx="256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0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ubTitle" idx="2"/>
          </p:nvPr>
        </p:nvSpPr>
        <p:spPr>
          <a:xfrm>
            <a:off x="867750" y="4494125"/>
            <a:ext cx="256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000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  <a:sym typeface="Funnel Display"/>
              </a:defRPr>
            </a:lvl9pPr>
          </a:lstStyle>
          <a:p>
            <a:endParaRPr/>
          </a:p>
        </p:txBody>
      </p:sp>
      <p:cxnSp>
        <p:nvCxnSpPr>
          <p:cNvPr id="73" name="Google Shape;73;p17"/>
          <p:cNvCxnSpPr/>
          <p:nvPr/>
        </p:nvCxnSpPr>
        <p:spPr>
          <a:xfrm>
            <a:off x="218850" y="235950"/>
            <a:ext cx="87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3483675" y="529125"/>
            <a:ext cx="46443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6" name="Google Shape;76;p18"/>
          <p:cNvSpPr>
            <a:spLocks noGrp="1"/>
          </p:cNvSpPr>
          <p:nvPr>
            <p:ph type="pic" idx="2"/>
          </p:nvPr>
        </p:nvSpPr>
        <p:spPr>
          <a:xfrm>
            <a:off x="228550" y="238200"/>
            <a:ext cx="3009000" cy="46767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8"/>
          <p:cNvSpPr txBox="1">
            <a:spLocks noGrp="1"/>
          </p:cNvSpPr>
          <p:nvPr>
            <p:ph type="subTitle" idx="1"/>
          </p:nvPr>
        </p:nvSpPr>
        <p:spPr>
          <a:xfrm>
            <a:off x="3483675" y="1953400"/>
            <a:ext cx="4172400" cy="24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 hasCustomPrompt="1"/>
          </p:nvPr>
        </p:nvSpPr>
        <p:spPr>
          <a:xfrm>
            <a:off x="1284000" y="1349538"/>
            <a:ext cx="6576000" cy="13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0" name="Google Shape;80;p19"/>
          <p:cNvSpPr txBox="1">
            <a:spLocks noGrp="1"/>
          </p:cNvSpPr>
          <p:nvPr>
            <p:ph type="subTitle" idx="1"/>
          </p:nvPr>
        </p:nvSpPr>
        <p:spPr>
          <a:xfrm>
            <a:off x="1284000" y="2807525"/>
            <a:ext cx="65760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81" name="Google Shape;81;p19"/>
          <p:cNvCxnSpPr/>
          <p:nvPr/>
        </p:nvCxnSpPr>
        <p:spPr>
          <a:xfrm>
            <a:off x="218850" y="272663"/>
            <a:ext cx="87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2" name="Google Shape;82;p19"/>
          <p:cNvCxnSpPr/>
          <p:nvPr/>
        </p:nvCxnSpPr>
        <p:spPr>
          <a:xfrm>
            <a:off x="218850" y="4870838"/>
            <a:ext cx="87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56.png"/><Relationship Id="rId4" Type="http://schemas.openxmlformats.org/officeDocument/2006/relationships/image" Target="../media/image7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6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77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>
            <a:spLocks noGrp="1"/>
          </p:cNvSpPr>
          <p:nvPr>
            <p:ph type="ctrTitle"/>
          </p:nvPr>
        </p:nvSpPr>
        <p:spPr>
          <a:xfrm>
            <a:off x="470625" y="828100"/>
            <a:ext cx="8116200" cy="13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200" b="1"/>
              <a:t>DataCo SMART SUPPLY CHAIN </a:t>
            </a:r>
            <a:br>
              <a:rPr lang="en" sz="3200" b="1"/>
            </a:br>
            <a:r>
              <a:rPr lang="en" sz="3200" b="1"/>
              <a:t>FOR BIG DATA ANALYSIS</a:t>
            </a:r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subTitle" idx="1"/>
          </p:nvPr>
        </p:nvSpPr>
        <p:spPr>
          <a:xfrm>
            <a:off x="557100" y="3834200"/>
            <a:ext cx="8029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 Source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DataCo Global Company</a:t>
            </a:r>
            <a:endParaRPr/>
          </a:p>
        </p:txBody>
      </p:sp>
      <p:cxnSp>
        <p:nvCxnSpPr>
          <p:cNvPr id="89" name="Google Shape;89;p20"/>
          <p:cNvCxnSpPr/>
          <p:nvPr/>
        </p:nvCxnSpPr>
        <p:spPr>
          <a:xfrm>
            <a:off x="557100" y="678600"/>
            <a:ext cx="8029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>
            <a:spLocks noGrp="1"/>
          </p:cNvSpPr>
          <p:nvPr>
            <p:ph type="title"/>
          </p:nvPr>
        </p:nvSpPr>
        <p:spPr>
          <a:xfrm>
            <a:off x="3483675" y="238188"/>
            <a:ext cx="46443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Data Analysis Team</a:t>
            </a:r>
            <a:endParaRPr/>
          </a:p>
        </p:txBody>
      </p:sp>
      <p:pic>
        <p:nvPicPr>
          <p:cNvPr id="95" name="Google Shape;95;p2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44" r="44"/>
          <a:stretch/>
        </p:blipFill>
        <p:spPr>
          <a:xfrm>
            <a:off x="228550" y="233400"/>
            <a:ext cx="3009000" cy="46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1"/>
          <p:cNvSpPr txBox="1">
            <a:spLocks noGrp="1"/>
          </p:cNvSpPr>
          <p:nvPr>
            <p:ph type="subTitle" idx="1"/>
          </p:nvPr>
        </p:nvSpPr>
        <p:spPr>
          <a:xfrm>
            <a:off x="3483675" y="1715200"/>
            <a:ext cx="2808637" cy="179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4130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2000"/>
              <a:t>Eslam Mohamed</a:t>
            </a:r>
            <a:endParaRPr sz="2000"/>
          </a:p>
          <a:p>
            <a:pPr marL="24130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2000"/>
              <a:t>Ebrahim Elnaqer</a:t>
            </a:r>
            <a:endParaRPr sz="2000"/>
          </a:p>
          <a:p>
            <a:pPr marL="24130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2000"/>
              <a:t>Mahmoud Elafandy</a:t>
            </a:r>
            <a:endParaRPr sz="2000"/>
          </a:p>
          <a:p>
            <a:pPr marL="24130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2000"/>
              <a:t>Abdullah Elbelawy</a:t>
            </a:r>
            <a:endParaRPr sz="2000"/>
          </a:p>
          <a:p>
            <a:pPr marL="24130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2000"/>
              <a:t>Radwan Mohamed</a:t>
            </a:r>
            <a:endParaRPr sz="2000"/>
          </a:p>
        </p:txBody>
      </p:sp>
      <p:cxnSp>
        <p:nvCxnSpPr>
          <p:cNvPr id="97" name="Google Shape;97;p21"/>
          <p:cNvCxnSpPr/>
          <p:nvPr/>
        </p:nvCxnSpPr>
        <p:spPr>
          <a:xfrm>
            <a:off x="3483675" y="4914900"/>
            <a:ext cx="244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44" r="44"/>
          <a:stretch/>
        </p:blipFill>
        <p:spPr>
          <a:xfrm>
            <a:off x="5673495" y="313178"/>
            <a:ext cx="3009000" cy="46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2"/>
          <p:cNvSpPr txBox="1">
            <a:spLocks noGrp="1"/>
          </p:cNvSpPr>
          <p:nvPr>
            <p:ph type="subTitle" idx="1"/>
          </p:nvPr>
        </p:nvSpPr>
        <p:spPr>
          <a:xfrm>
            <a:off x="461505" y="1627672"/>
            <a:ext cx="4644300" cy="188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4130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2000"/>
              <a:t>One of the most in-demand fields</a:t>
            </a:r>
            <a:endParaRPr/>
          </a:p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sz="2000"/>
          </a:p>
          <a:p>
            <a:pPr marL="24130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2000"/>
              <a:t>Big Data </a:t>
            </a:r>
            <a:r>
              <a:rPr lang="en" sz="1600"/>
              <a:t>(180519 Raw, 53 Columns)</a:t>
            </a:r>
            <a:endParaRPr/>
          </a:p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sz="1600"/>
          </a:p>
          <a:p>
            <a:pPr marL="24130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2000"/>
              <a:t>A lot of challenges</a:t>
            </a:r>
            <a:endParaRPr/>
          </a:p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sz="2000"/>
          </a:p>
        </p:txBody>
      </p:sp>
      <p:cxnSp>
        <p:nvCxnSpPr>
          <p:cNvPr id="104" name="Google Shape;104;p22"/>
          <p:cNvCxnSpPr/>
          <p:nvPr/>
        </p:nvCxnSpPr>
        <p:spPr>
          <a:xfrm>
            <a:off x="3483675" y="4914900"/>
            <a:ext cx="244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>
            <a:spLocks noGrp="1"/>
          </p:cNvSpPr>
          <p:nvPr>
            <p:ph type="title"/>
          </p:nvPr>
        </p:nvSpPr>
        <p:spPr>
          <a:xfrm>
            <a:off x="720000" y="32576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WHAT IS THIS DATA ABOUT?</a:t>
            </a:r>
            <a:endParaRPr/>
          </a:p>
        </p:txBody>
      </p:sp>
      <p:pic>
        <p:nvPicPr>
          <p:cNvPr id="110" name="Google Shape;11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2202" y="952704"/>
            <a:ext cx="7179596" cy="3669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>
            <a:spLocks noGrp="1"/>
          </p:cNvSpPr>
          <p:nvPr>
            <p:ph type="title"/>
          </p:nvPr>
        </p:nvSpPr>
        <p:spPr>
          <a:xfrm>
            <a:off x="4176150" y="1670492"/>
            <a:ext cx="4342200" cy="17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DATA CLEANING</a:t>
            </a:r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title" idx="2"/>
          </p:nvPr>
        </p:nvSpPr>
        <p:spPr>
          <a:xfrm>
            <a:off x="464025" y="424696"/>
            <a:ext cx="8598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subTitle" idx="1"/>
          </p:nvPr>
        </p:nvSpPr>
        <p:spPr>
          <a:xfrm>
            <a:off x="542675" y="2965200"/>
            <a:ext cx="30147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Tools used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Python &amp; Excel</a:t>
            </a:r>
            <a:endParaRPr/>
          </a:p>
        </p:txBody>
      </p:sp>
      <p:cxnSp>
        <p:nvCxnSpPr>
          <p:cNvPr id="118" name="Google Shape;118;p24"/>
          <p:cNvCxnSpPr/>
          <p:nvPr/>
        </p:nvCxnSpPr>
        <p:spPr>
          <a:xfrm>
            <a:off x="1217750" y="928581"/>
            <a:ext cx="729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9904" y="253553"/>
            <a:ext cx="3944191" cy="715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256" y="1067710"/>
            <a:ext cx="7411484" cy="36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83430" y="1527971"/>
            <a:ext cx="5377137" cy="336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021" y="1044673"/>
            <a:ext cx="2295014" cy="364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6899" y="1044673"/>
            <a:ext cx="1892278" cy="1822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01747" y="1044673"/>
            <a:ext cx="2091728" cy="1822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86251" y="2929180"/>
            <a:ext cx="1892279" cy="176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6"/>
          <p:cNvPicPr preferRelativeResize="0"/>
          <p:nvPr/>
        </p:nvPicPr>
        <p:blipFill rotWithShape="1">
          <a:blip r:embed="rId7">
            <a:alphaModFix/>
          </a:blip>
          <a:srcRect t="35571" r="58730"/>
          <a:stretch/>
        </p:blipFill>
        <p:spPr>
          <a:xfrm>
            <a:off x="4501747" y="2929180"/>
            <a:ext cx="2091728" cy="1765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17338" y="1044673"/>
            <a:ext cx="2258641" cy="364963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6"/>
          <p:cNvSpPr txBox="1">
            <a:spLocks noGrp="1"/>
          </p:cNvSpPr>
          <p:nvPr>
            <p:ph type="title"/>
          </p:nvPr>
        </p:nvSpPr>
        <p:spPr>
          <a:xfrm>
            <a:off x="1651087" y="255722"/>
            <a:ext cx="1823895" cy="63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sz="3200"/>
              <a:t>BEFORE</a:t>
            </a:r>
            <a:endParaRPr sz="3200"/>
          </a:p>
        </p:txBody>
      </p:sp>
      <p:sp>
        <p:nvSpPr>
          <p:cNvPr id="137" name="Google Shape;137;p26"/>
          <p:cNvSpPr txBox="1"/>
          <p:nvPr/>
        </p:nvSpPr>
        <p:spPr>
          <a:xfrm>
            <a:off x="5846688" y="255722"/>
            <a:ext cx="1493573" cy="63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</a:pPr>
            <a:r>
              <a:rPr lang="en" sz="3200" b="0" i="0" u="none" strike="noStrike" cap="none">
                <a:solidFill>
                  <a:schemeClr val="dk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AFTER</a:t>
            </a:r>
            <a:endParaRPr/>
          </a:p>
        </p:txBody>
      </p:sp>
      <p:cxnSp>
        <p:nvCxnSpPr>
          <p:cNvPr id="138" name="Google Shape;138;p26"/>
          <p:cNvCxnSpPr/>
          <p:nvPr/>
        </p:nvCxnSpPr>
        <p:spPr>
          <a:xfrm>
            <a:off x="4495817" y="358101"/>
            <a:ext cx="0" cy="5330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" name="Google Shape;139;p26"/>
          <p:cNvSpPr/>
          <p:nvPr/>
        </p:nvSpPr>
        <p:spPr>
          <a:xfrm>
            <a:off x="431800" y="3517900"/>
            <a:ext cx="1409700" cy="180975"/>
          </a:xfrm>
          <a:prstGeom prst="frame">
            <a:avLst>
              <a:gd name="adj1" fmla="val 125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6"/>
          <p:cNvSpPr/>
          <p:nvPr/>
        </p:nvSpPr>
        <p:spPr>
          <a:xfrm>
            <a:off x="431800" y="4168775"/>
            <a:ext cx="1409700" cy="180975"/>
          </a:xfrm>
          <a:prstGeom prst="frame">
            <a:avLst>
              <a:gd name="adj1" fmla="val 125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26"/>
          <p:cNvCxnSpPr/>
          <p:nvPr/>
        </p:nvCxnSpPr>
        <p:spPr>
          <a:xfrm>
            <a:off x="2787650" y="1933575"/>
            <a:ext cx="1473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2" name="Google Shape;142;p26"/>
          <p:cNvCxnSpPr/>
          <p:nvPr/>
        </p:nvCxnSpPr>
        <p:spPr>
          <a:xfrm>
            <a:off x="2787650" y="2468563"/>
            <a:ext cx="1473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3" name="Google Shape;143;p26"/>
          <p:cNvCxnSpPr/>
          <p:nvPr/>
        </p:nvCxnSpPr>
        <p:spPr>
          <a:xfrm>
            <a:off x="2787650" y="1924047"/>
            <a:ext cx="0" cy="554041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4" name="Google Shape;144;p26"/>
          <p:cNvSpPr/>
          <p:nvPr/>
        </p:nvSpPr>
        <p:spPr>
          <a:xfrm>
            <a:off x="2787650" y="2551397"/>
            <a:ext cx="1473200" cy="138194"/>
          </a:xfrm>
          <a:prstGeom prst="frame">
            <a:avLst>
              <a:gd name="adj1" fmla="val 125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26"/>
          <p:cNvCxnSpPr/>
          <p:nvPr/>
        </p:nvCxnSpPr>
        <p:spPr>
          <a:xfrm>
            <a:off x="4260850" y="1924047"/>
            <a:ext cx="0" cy="554041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6" name="Google Shape;146;p26"/>
          <p:cNvSpPr/>
          <p:nvPr/>
        </p:nvSpPr>
        <p:spPr>
          <a:xfrm>
            <a:off x="2795791" y="3402174"/>
            <a:ext cx="1499984" cy="138194"/>
          </a:xfrm>
          <a:prstGeom prst="frame">
            <a:avLst>
              <a:gd name="adj1" fmla="val 125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6"/>
          <p:cNvSpPr/>
          <p:nvPr/>
        </p:nvSpPr>
        <p:spPr>
          <a:xfrm>
            <a:off x="2795791" y="4230606"/>
            <a:ext cx="1499984" cy="138194"/>
          </a:xfrm>
          <a:prstGeom prst="frame">
            <a:avLst>
              <a:gd name="adj1" fmla="val 125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918" y="820575"/>
            <a:ext cx="4257445" cy="1972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6919" y="3380809"/>
            <a:ext cx="4257445" cy="1385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2655" y="820575"/>
            <a:ext cx="3574425" cy="2449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62655" y="3270181"/>
            <a:ext cx="3574425" cy="149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>
            <a:spLocks noGrp="1"/>
          </p:cNvSpPr>
          <p:nvPr>
            <p:ph type="title"/>
          </p:nvPr>
        </p:nvSpPr>
        <p:spPr>
          <a:xfrm>
            <a:off x="354333" y="377356"/>
            <a:ext cx="2698833" cy="443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NAN HANDLING</a:t>
            </a:r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subTitle" idx="1"/>
          </p:nvPr>
        </p:nvSpPr>
        <p:spPr>
          <a:xfrm>
            <a:off x="506918" y="3029919"/>
            <a:ext cx="2045541" cy="35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Customer_lname column</a:t>
            </a:r>
            <a:endParaRPr/>
          </a:p>
        </p:txBody>
      </p:sp>
      <p:sp>
        <p:nvSpPr>
          <p:cNvPr id="158" name="Google Shape;158;p27"/>
          <p:cNvSpPr txBox="1"/>
          <p:nvPr/>
        </p:nvSpPr>
        <p:spPr>
          <a:xfrm>
            <a:off x="5068065" y="469685"/>
            <a:ext cx="2206494" cy="35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Customer_zipcode column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666" y="984142"/>
            <a:ext cx="3523262" cy="385633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8"/>
          <p:cNvSpPr txBox="1">
            <a:spLocks noGrp="1"/>
          </p:cNvSpPr>
          <p:nvPr>
            <p:ph type="title"/>
          </p:nvPr>
        </p:nvSpPr>
        <p:spPr>
          <a:xfrm>
            <a:off x="245396" y="384133"/>
            <a:ext cx="3884902" cy="50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sz="2800" dirty="0"/>
              <a:t>REC</a:t>
            </a:r>
            <a:r>
              <a:rPr lang="en-US" sz="2800" dirty="0"/>
              <a:t>A</a:t>
            </a:r>
            <a:r>
              <a:rPr lang="en" sz="2800" dirty="0"/>
              <a:t>TEGORIZATION</a:t>
            </a:r>
            <a:endParaRPr sz="2800" dirty="0"/>
          </a:p>
        </p:txBody>
      </p:sp>
      <p:sp>
        <p:nvSpPr>
          <p:cNvPr id="165" name="Google Shape;165;p28"/>
          <p:cNvSpPr/>
          <p:nvPr/>
        </p:nvSpPr>
        <p:spPr>
          <a:xfrm>
            <a:off x="959824" y="2778125"/>
            <a:ext cx="1553473" cy="320675"/>
          </a:xfrm>
          <a:prstGeom prst="frame">
            <a:avLst>
              <a:gd name="adj1" fmla="val 125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0063" y="984142"/>
            <a:ext cx="3798844" cy="1950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68060" y="3098800"/>
            <a:ext cx="1467280" cy="146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17635" y="3127010"/>
            <a:ext cx="1327867" cy="1410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350" y="303025"/>
            <a:ext cx="3378631" cy="453744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9"/>
          <p:cNvSpPr txBox="1">
            <a:spLocks noGrp="1"/>
          </p:cNvSpPr>
          <p:nvPr>
            <p:ph type="title"/>
          </p:nvPr>
        </p:nvSpPr>
        <p:spPr>
          <a:xfrm>
            <a:off x="5179020" y="384133"/>
            <a:ext cx="3605933" cy="50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sz="2800"/>
              <a:t>RECTEGORIZATION</a:t>
            </a:r>
            <a:endParaRPr sz="2800"/>
          </a:p>
        </p:txBody>
      </p:sp>
      <p:pic>
        <p:nvPicPr>
          <p:cNvPr id="175" name="Google Shape;175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8455" y="1772338"/>
            <a:ext cx="4320278" cy="1402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078" y="1057523"/>
            <a:ext cx="5302781" cy="3592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0"/>
          <p:cNvPicPr preferRelativeResize="0"/>
          <p:nvPr/>
        </p:nvPicPr>
        <p:blipFill rotWithShape="1">
          <a:blip r:embed="rId4">
            <a:alphaModFix/>
          </a:blip>
          <a:srcRect l="9003" r="3159"/>
          <a:stretch/>
        </p:blipFill>
        <p:spPr>
          <a:xfrm>
            <a:off x="5672351" y="2109669"/>
            <a:ext cx="3180522" cy="148859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0"/>
          <p:cNvSpPr txBox="1">
            <a:spLocks noGrp="1"/>
          </p:cNvSpPr>
          <p:nvPr>
            <p:ph type="title"/>
          </p:nvPr>
        </p:nvSpPr>
        <p:spPr>
          <a:xfrm>
            <a:off x="229799" y="286965"/>
            <a:ext cx="3189261" cy="579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sz="2800"/>
              <a:t>DATA SPLITTING</a:t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>
            <a:spLocks noGrp="1"/>
          </p:cNvSpPr>
          <p:nvPr>
            <p:ph type="title"/>
          </p:nvPr>
        </p:nvSpPr>
        <p:spPr>
          <a:xfrm>
            <a:off x="4176150" y="1670492"/>
            <a:ext cx="4342200" cy="17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DATA ANALYSIS</a:t>
            </a:r>
            <a:endParaRPr/>
          </a:p>
        </p:txBody>
      </p:sp>
      <p:sp>
        <p:nvSpPr>
          <p:cNvPr id="188" name="Google Shape;188;p31"/>
          <p:cNvSpPr txBox="1">
            <a:spLocks noGrp="1"/>
          </p:cNvSpPr>
          <p:nvPr>
            <p:ph type="title" idx="2"/>
          </p:nvPr>
        </p:nvSpPr>
        <p:spPr>
          <a:xfrm>
            <a:off x="464025" y="424696"/>
            <a:ext cx="8598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89" name="Google Shape;189;p31"/>
          <p:cNvSpPr txBox="1">
            <a:spLocks noGrp="1"/>
          </p:cNvSpPr>
          <p:nvPr>
            <p:ph type="subTitle" idx="1"/>
          </p:nvPr>
        </p:nvSpPr>
        <p:spPr>
          <a:xfrm>
            <a:off x="542675" y="2965200"/>
            <a:ext cx="30147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Tools used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Python, SQL,  Excel, Power Bi</a:t>
            </a:r>
            <a:endParaRPr/>
          </a:p>
        </p:txBody>
      </p:sp>
      <p:cxnSp>
        <p:nvCxnSpPr>
          <p:cNvPr id="190" name="Google Shape;190;p31"/>
          <p:cNvCxnSpPr/>
          <p:nvPr/>
        </p:nvCxnSpPr>
        <p:spPr>
          <a:xfrm>
            <a:off x="1217750" y="928581"/>
            <a:ext cx="729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6826" y="370096"/>
            <a:ext cx="2093165" cy="209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12464" y="370097"/>
            <a:ext cx="2093165" cy="209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12464" y="2789283"/>
            <a:ext cx="2093165" cy="209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26825" y="2789282"/>
            <a:ext cx="2093165" cy="2093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3"/>
          <p:cNvSpPr txBox="1"/>
          <p:nvPr/>
        </p:nvSpPr>
        <p:spPr>
          <a:xfrm>
            <a:off x="2010430" y="1450181"/>
            <a:ext cx="512314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875" b="1" i="0" u="none" strike="noStrike" cap="non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SHIPPING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3"/>
          <p:cNvSpPr txBox="1"/>
          <p:nvPr/>
        </p:nvSpPr>
        <p:spPr>
          <a:xfrm>
            <a:off x="2010430" y="2250281"/>
            <a:ext cx="5123140" cy="86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625" b="1" i="0" u="none" strike="noStrike" cap="non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PROBLEMS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3"/>
          <p:cNvSpPr txBox="1"/>
          <p:nvPr/>
        </p:nvSpPr>
        <p:spPr>
          <a:xfrm>
            <a:off x="2132410" y="3178969"/>
            <a:ext cx="4879181" cy="36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88" b="0" i="0" u="none" strike="noStrike" cap="non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STRATEGIC ANALYSIS &amp; SOLUTIONS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3"/>
          <p:cNvSpPr txBox="1"/>
          <p:nvPr/>
        </p:nvSpPr>
        <p:spPr>
          <a:xfrm>
            <a:off x="428625" y="285750"/>
            <a:ext cx="985838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750" b="1" i="0" u="none" strike="noStrike" cap="non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01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4988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307878"/>
            <a:ext cx="3964781" cy="383562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4"/>
          <p:cNvSpPr txBox="1"/>
          <p:nvPr/>
        </p:nvSpPr>
        <p:spPr>
          <a:xfrm>
            <a:off x="292069" y="1530063"/>
            <a:ext cx="39647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الحل المقترح (Action Plan)</a:t>
            </a:r>
            <a:endParaRPr dirty="0"/>
          </a:p>
        </p:txBody>
      </p:sp>
      <p:sp>
        <p:nvSpPr>
          <p:cNvPr id="219" name="Google Shape;219;p34"/>
          <p:cNvSpPr txBox="1"/>
          <p:nvPr/>
        </p:nvSpPr>
        <p:spPr>
          <a:xfrm>
            <a:off x="650081" y="2326380"/>
            <a:ext cx="327210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تعديل خوارزمية المواعيد:</a:t>
            </a:r>
            <a:r>
              <a:rPr lang="en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إضافة يوم وقائي (Buffer Day) لمطابقة الواقع.</a:t>
            </a:r>
            <a:endParaRPr sz="1100" dirty="0"/>
          </a:p>
        </p:txBody>
      </p:sp>
      <p:sp>
        <p:nvSpPr>
          <p:cNvPr id="220" name="Google Shape;220;p34"/>
          <p:cNvSpPr txBox="1"/>
          <p:nvPr/>
        </p:nvSpPr>
        <p:spPr>
          <a:xfrm>
            <a:off x="650081" y="3097286"/>
            <a:ext cx="327210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نظام الإنذار المبكر:</a:t>
            </a:r>
            <a:r>
              <a:rPr lang="en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Dashboard لمراقبة Late Risk لحظياً.</a:t>
            </a:r>
            <a:endParaRPr sz="1100" dirty="0"/>
          </a:p>
        </p:txBody>
      </p:sp>
      <p:sp>
        <p:nvSpPr>
          <p:cNvPr id="221" name="Google Shape;221;p34"/>
          <p:cNvSpPr txBox="1"/>
          <p:nvPr/>
        </p:nvSpPr>
        <p:spPr>
          <a:xfrm>
            <a:off x="650081" y="3922444"/>
            <a:ext cx="327210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تعويضات استباقية:</a:t>
            </a:r>
            <a:r>
              <a:rPr lang="en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إرسال كود خصم آلي فور رصد التأخير لامتصاص غضب العميل.</a:t>
            </a:r>
            <a:endParaRPr sz="1100" dirty="0"/>
          </a:p>
        </p:txBody>
      </p:sp>
      <p:sp>
        <p:nvSpPr>
          <p:cNvPr id="222" name="Google Shape;222;p34"/>
          <p:cNvSpPr txBox="1"/>
          <p:nvPr/>
        </p:nvSpPr>
        <p:spPr>
          <a:xfrm>
            <a:off x="4014788" y="2326380"/>
            <a:ext cx="157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/>
          </a:p>
        </p:txBody>
      </p:sp>
      <p:sp>
        <p:nvSpPr>
          <p:cNvPr id="223" name="Google Shape;223;p34"/>
          <p:cNvSpPr txBox="1"/>
          <p:nvPr/>
        </p:nvSpPr>
        <p:spPr>
          <a:xfrm>
            <a:off x="4014788" y="3097286"/>
            <a:ext cx="157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 dirty="0"/>
          </a:p>
        </p:txBody>
      </p:sp>
      <p:sp>
        <p:nvSpPr>
          <p:cNvPr id="224" name="Google Shape;224;p34"/>
          <p:cNvSpPr txBox="1"/>
          <p:nvPr/>
        </p:nvSpPr>
        <p:spPr>
          <a:xfrm>
            <a:off x="4014788" y="3922444"/>
            <a:ext cx="157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 dirty="0"/>
          </a:p>
        </p:txBody>
      </p:sp>
      <p:sp>
        <p:nvSpPr>
          <p:cNvPr id="225" name="Google Shape;225;p34"/>
          <p:cNvSpPr txBox="1"/>
          <p:nvPr/>
        </p:nvSpPr>
        <p:spPr>
          <a:xfrm>
            <a:off x="0" y="339169"/>
            <a:ext cx="85137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45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مشكلة (1)</a:t>
            </a:r>
            <a:r>
              <a:rPr lang="ar-EG" sz="345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: </a:t>
            </a:r>
            <a:r>
              <a:rPr lang="en" sz="345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أزمة الوعود </a:t>
            </a:r>
            <a:r>
              <a:rPr lang="ar-EG" sz="3450" b="1" dirty="0">
                <a:latin typeface="Noto Sans Arabic"/>
                <a:ea typeface="Noto Sans Arabic"/>
                <a:cs typeface="Noto Sans Arabic"/>
                <a:sym typeface="Noto Sans Arabic"/>
              </a:rPr>
              <a:t>ب</a:t>
            </a:r>
            <a:r>
              <a:rPr lang="en" sz="345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الشحن السريع</a:t>
            </a:r>
            <a:endParaRPr sz="500" dirty="0"/>
          </a:p>
        </p:txBody>
      </p:sp>
      <p:pic>
        <p:nvPicPr>
          <p:cNvPr id="2" name="Google Shape;214;p34" descr="image.png">
            <a:extLst>
              <a:ext uri="{FF2B5EF4-FFF2-40B4-BE49-F238E27FC236}">
                <a16:creationId xmlns:a16="http://schemas.microsoft.com/office/drawing/2014/main" id="{BB947F82-2132-197E-B061-5C76D5B47EA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0313" y="1314251"/>
            <a:ext cx="3964781" cy="383562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4"/>
          <p:cNvSpPr/>
          <p:nvPr/>
        </p:nvSpPr>
        <p:spPr>
          <a:xfrm>
            <a:off x="8608219" y="178519"/>
            <a:ext cx="107100" cy="852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50594" y="1307878"/>
            <a:ext cx="3964781" cy="383562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4"/>
          <p:cNvSpPr txBox="1"/>
          <p:nvPr/>
        </p:nvSpPr>
        <p:spPr>
          <a:xfrm>
            <a:off x="6231132" y="1530079"/>
            <a:ext cx="248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أزمة "First Class"</a:t>
            </a:r>
            <a:endParaRPr dirty="0"/>
          </a:p>
        </p:txBody>
      </p:sp>
      <p:sp>
        <p:nvSpPr>
          <p:cNvPr id="216" name="Google Shape;216;p34"/>
          <p:cNvSpPr/>
          <p:nvPr/>
        </p:nvSpPr>
        <p:spPr>
          <a:xfrm>
            <a:off x="6872288" y="2000737"/>
            <a:ext cx="1843200" cy="13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4"/>
          <p:cNvSpPr txBox="1"/>
          <p:nvPr/>
        </p:nvSpPr>
        <p:spPr>
          <a:xfrm>
            <a:off x="4750594" y="2270952"/>
            <a:ext cx="3964500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نسبة التأخير الفعلي تصل إلى </a:t>
            </a: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95.27%</a:t>
            </a:r>
            <a:r>
              <a:rPr lang="ar-EG" sz="1650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العميل يدفع مقابل سرعة لا يحصل عليها.</a:t>
            </a:r>
            <a:endParaRPr dirty="0"/>
          </a:p>
        </p:txBody>
      </p:sp>
      <p:sp>
        <p:nvSpPr>
          <p:cNvPr id="3" name="Google Shape;216;p34">
            <a:extLst>
              <a:ext uri="{FF2B5EF4-FFF2-40B4-BE49-F238E27FC236}">
                <a16:creationId xmlns:a16="http://schemas.microsoft.com/office/drawing/2014/main" id="{C6F7D186-3E8E-C0A2-71E0-E85899157722}"/>
              </a:ext>
            </a:extLst>
          </p:cNvPr>
          <p:cNvSpPr/>
          <p:nvPr/>
        </p:nvSpPr>
        <p:spPr>
          <a:xfrm>
            <a:off x="2550235" y="1986937"/>
            <a:ext cx="1843200" cy="13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3925937"/>
            <a:ext cx="8286750" cy="962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74" y="1762832"/>
            <a:ext cx="2619301" cy="1877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62349" y="1762832"/>
            <a:ext cx="2619411" cy="1877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736" y="1762832"/>
            <a:ext cx="2619301" cy="187735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5"/>
          <p:cNvSpPr txBox="1"/>
          <p:nvPr/>
        </p:nvSpPr>
        <p:spPr>
          <a:xfrm>
            <a:off x="642938" y="4049440"/>
            <a:ext cx="7858200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الاستنتاج: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التأخير هو المحرك الرئيسي لضياع </a:t>
            </a: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898</a:t>
            </a:r>
            <a:r>
              <a:rPr lang="ar-EG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ألف </a:t>
            </a:r>
            <a:r>
              <a:rPr lang="ar-EG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دولار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من المبيعات. معالجة التأخير تعني استرداد هذه السيولة فوراً.</a:t>
            </a:r>
            <a:endParaRPr dirty="0"/>
          </a:p>
        </p:txBody>
      </p:sp>
      <p:sp>
        <p:nvSpPr>
          <p:cNvPr id="237" name="Google Shape;237;p35"/>
          <p:cNvSpPr txBox="1"/>
          <p:nvPr/>
        </p:nvSpPr>
        <p:spPr>
          <a:xfrm>
            <a:off x="6317531" y="1984288"/>
            <a:ext cx="21762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 i="0" u="none" strike="noStrike" cap="non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2,855</a:t>
            </a:r>
            <a:endParaRPr/>
          </a:p>
        </p:txBody>
      </p:sp>
      <p:sp>
        <p:nvSpPr>
          <p:cNvPr id="238" name="Google Shape;238;p35"/>
          <p:cNvSpPr txBox="1"/>
          <p:nvPr/>
        </p:nvSpPr>
        <p:spPr>
          <a:xfrm>
            <a:off x="6317531" y="3041563"/>
            <a:ext cx="2176200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إجمالي عدد الإلغاءات</a:t>
            </a:r>
            <a:endParaRPr dirty="0"/>
          </a:p>
        </p:txBody>
      </p:sp>
      <p:sp>
        <p:nvSpPr>
          <p:cNvPr id="239" name="Google Shape;239;p35"/>
          <p:cNvSpPr txBox="1"/>
          <p:nvPr/>
        </p:nvSpPr>
        <p:spPr>
          <a:xfrm>
            <a:off x="3483806" y="1984288"/>
            <a:ext cx="21762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1.57M</a:t>
            </a:r>
            <a:endParaRPr dirty="0"/>
          </a:p>
        </p:txBody>
      </p:sp>
      <p:sp>
        <p:nvSpPr>
          <p:cNvPr id="240" name="Google Shape;240;p35"/>
          <p:cNvSpPr txBox="1"/>
          <p:nvPr/>
        </p:nvSpPr>
        <p:spPr>
          <a:xfrm>
            <a:off x="3483806" y="3041563"/>
            <a:ext cx="2176200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القيمة الإجمالية </a:t>
            </a:r>
            <a:r>
              <a:rPr lang="ar-EG" sz="1650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(دولار)</a:t>
            </a:r>
            <a:endParaRPr dirty="0"/>
          </a:p>
        </p:txBody>
      </p:sp>
      <p:sp>
        <p:nvSpPr>
          <p:cNvPr id="241" name="Google Shape;241;p35"/>
          <p:cNvSpPr txBox="1"/>
          <p:nvPr/>
        </p:nvSpPr>
        <p:spPr>
          <a:xfrm>
            <a:off x="650192" y="1984288"/>
            <a:ext cx="21762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 i="0" u="none" strike="noStrike" cap="non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58%</a:t>
            </a:r>
            <a:endParaRPr/>
          </a:p>
        </p:txBody>
      </p:sp>
      <p:sp>
        <p:nvSpPr>
          <p:cNvPr id="242" name="Google Shape;242;p35"/>
          <p:cNvSpPr txBox="1"/>
          <p:nvPr/>
        </p:nvSpPr>
        <p:spPr>
          <a:xfrm>
            <a:off x="650192" y="3041563"/>
            <a:ext cx="2176200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إلغاء بسبب التأخير</a:t>
            </a:r>
            <a:endParaRPr dirty="0"/>
          </a:p>
        </p:txBody>
      </p:sp>
      <p:sp>
        <p:nvSpPr>
          <p:cNvPr id="243" name="Google Shape;243;p35"/>
          <p:cNvSpPr txBox="1"/>
          <p:nvPr/>
        </p:nvSpPr>
        <p:spPr>
          <a:xfrm>
            <a:off x="23217" y="706886"/>
            <a:ext cx="8513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435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الأثر المالي المباشر للإلغاءات</a:t>
            </a:r>
            <a:endParaRPr dirty="0"/>
          </a:p>
        </p:txBody>
      </p:sp>
      <p:sp>
        <p:nvSpPr>
          <p:cNvPr id="244" name="Google Shape;244;p35"/>
          <p:cNvSpPr/>
          <p:nvPr/>
        </p:nvSpPr>
        <p:spPr>
          <a:xfrm>
            <a:off x="8608219" y="598400"/>
            <a:ext cx="107400" cy="878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75" y="2045679"/>
            <a:ext cx="2619301" cy="2560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62350" y="2045679"/>
            <a:ext cx="2619412" cy="2560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736" y="2045679"/>
            <a:ext cx="2619301" cy="2560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08170" y="230417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6"/>
          <p:cNvSpPr txBox="1"/>
          <p:nvPr/>
        </p:nvSpPr>
        <p:spPr>
          <a:xfrm>
            <a:off x="7179124" y="2262395"/>
            <a:ext cx="814733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تقنياً</a:t>
            </a:r>
            <a:endParaRPr dirty="0"/>
          </a:p>
        </p:txBody>
      </p:sp>
      <p:sp>
        <p:nvSpPr>
          <p:cNvPr id="255" name="Google Shape;255;p36"/>
          <p:cNvSpPr txBox="1"/>
          <p:nvPr/>
        </p:nvSpPr>
        <p:spPr>
          <a:xfrm>
            <a:off x="6317475" y="2853630"/>
            <a:ext cx="2176500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تعديل خوارزمية الجدولة فوراً للفئات الحرجة (Buffer Day)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لضمان صدق الوعود.</a:t>
            </a:r>
            <a:endParaRPr dirty="0"/>
          </a:p>
        </p:txBody>
      </p:sp>
      <p:pic>
        <p:nvPicPr>
          <p:cNvPr id="256" name="Google Shape;256;p3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03119" y="2304170"/>
            <a:ext cx="357187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6"/>
          <p:cNvSpPr txBox="1"/>
          <p:nvPr/>
        </p:nvSpPr>
        <p:spPr>
          <a:xfrm>
            <a:off x="3905114" y="2262395"/>
            <a:ext cx="1134913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latin typeface="Noto Sans Arabic"/>
                <a:ea typeface="Noto Sans Arabic"/>
                <a:cs typeface="Noto Sans Arabic"/>
                <a:sym typeface="Noto Sans Arabic"/>
              </a:rPr>
              <a:t>تشغيلياً</a:t>
            </a:r>
            <a:endParaRPr sz="2400" b="1" dirty="0">
              <a:latin typeface="Noto Sans Arabic"/>
              <a:ea typeface="Noto Sans Arabic"/>
              <a:cs typeface="Noto Sans Arabic"/>
            </a:endParaRPr>
          </a:p>
        </p:txBody>
      </p:sp>
      <p:sp>
        <p:nvSpPr>
          <p:cNvPr id="258" name="Google Shape;258;p36"/>
          <p:cNvSpPr txBox="1"/>
          <p:nvPr/>
        </p:nvSpPr>
        <p:spPr>
          <a:xfrm>
            <a:off x="3483806" y="2904294"/>
            <a:ext cx="2176500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إعادة تقييم شركات شحن First Class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في الأقاليم المتضررة (Central Asia) أو تغيير المورد.</a:t>
            </a:r>
            <a:endParaRPr dirty="0"/>
          </a:p>
        </p:txBody>
      </p:sp>
      <p:pic>
        <p:nvPicPr>
          <p:cNvPr id="259" name="Google Shape;259;p3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540831" y="230417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6"/>
          <p:cNvSpPr txBox="1"/>
          <p:nvPr/>
        </p:nvSpPr>
        <p:spPr>
          <a:xfrm>
            <a:off x="987496" y="2262395"/>
            <a:ext cx="1338967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تسويقياً</a:t>
            </a:r>
            <a:endParaRPr dirty="0"/>
          </a:p>
        </p:txBody>
      </p:sp>
      <p:sp>
        <p:nvSpPr>
          <p:cNvPr id="261" name="Google Shape;261;p36"/>
          <p:cNvSpPr txBox="1"/>
          <p:nvPr/>
        </p:nvSpPr>
        <p:spPr>
          <a:xfrm>
            <a:off x="650192" y="2904294"/>
            <a:ext cx="2176500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تفعيل نظام "الاعتذار الرقمي" بكوبونات خصم 10%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قبل أن يشتكي العميل.</a:t>
            </a:r>
            <a:endParaRPr dirty="0"/>
          </a:p>
        </p:txBody>
      </p:sp>
      <p:sp>
        <p:nvSpPr>
          <p:cNvPr id="262" name="Google Shape;262;p36"/>
          <p:cNvSpPr txBox="1"/>
          <p:nvPr/>
        </p:nvSpPr>
        <p:spPr>
          <a:xfrm>
            <a:off x="-22481" y="965545"/>
            <a:ext cx="8513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التوصيات النهائية (Strategic Roadmap)</a:t>
            </a:r>
            <a:endParaRPr sz="1050" dirty="0"/>
          </a:p>
        </p:txBody>
      </p:sp>
      <p:sp>
        <p:nvSpPr>
          <p:cNvPr id="263" name="Google Shape;263;p36"/>
          <p:cNvSpPr/>
          <p:nvPr/>
        </p:nvSpPr>
        <p:spPr>
          <a:xfrm>
            <a:off x="8608220" y="772417"/>
            <a:ext cx="107400" cy="878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889968"/>
            <a:ext cx="8286750" cy="287178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7"/>
          <p:cNvSpPr txBox="1"/>
          <p:nvPr/>
        </p:nvSpPr>
        <p:spPr>
          <a:xfrm>
            <a:off x="428625" y="2315803"/>
            <a:ext cx="416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استعادة الكفاءة التشغيلية</a:t>
            </a:r>
            <a:endParaRPr dirty="0"/>
          </a:p>
        </p:txBody>
      </p:sp>
      <p:sp>
        <p:nvSpPr>
          <p:cNvPr id="271" name="Google Shape;271;p37"/>
          <p:cNvSpPr txBox="1"/>
          <p:nvPr/>
        </p:nvSpPr>
        <p:spPr>
          <a:xfrm>
            <a:off x="428625" y="2830638"/>
            <a:ext cx="371490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تحويل الحالات:</a:t>
            </a:r>
            <a:r>
              <a:rPr lang="en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تحويل 21,130</a:t>
            </a:r>
            <a:r>
              <a:rPr lang="ar-EG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طلب من "متأخر" إلى "في الموعد".</a:t>
            </a:r>
            <a:endParaRPr sz="1100" dirty="0"/>
          </a:p>
        </p:txBody>
      </p:sp>
      <p:sp>
        <p:nvSpPr>
          <p:cNvPr id="272" name="Google Shape;272;p37"/>
          <p:cNvSpPr txBox="1"/>
          <p:nvPr/>
        </p:nvSpPr>
        <p:spPr>
          <a:xfrm>
            <a:off x="428625" y="3463044"/>
            <a:ext cx="371490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حماية الإيرادات:</a:t>
            </a:r>
            <a:r>
              <a:rPr lang="en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ar-EG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تأمين مبيعات بقيمة 10.6 مليون دولار من خطر الإلغاء.</a:t>
            </a:r>
            <a:endParaRPr sz="1100" dirty="0"/>
          </a:p>
        </p:txBody>
      </p:sp>
      <p:sp>
        <p:nvSpPr>
          <p:cNvPr id="273" name="Google Shape;273;p37"/>
          <p:cNvSpPr txBox="1"/>
          <p:nvPr/>
        </p:nvSpPr>
        <p:spPr>
          <a:xfrm>
            <a:off x="428625" y="4165191"/>
            <a:ext cx="371490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الولاء:</a:t>
            </a:r>
            <a:r>
              <a:rPr lang="en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ar-EG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زيادة احتمالية عودة العميل بنسبة 40%</a:t>
            </a:r>
            <a:r>
              <a:rPr lang="ar-EG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عند الاعتذار الاستباقي.</a:t>
            </a:r>
            <a:endParaRPr sz="1100" dirty="0"/>
          </a:p>
        </p:txBody>
      </p:sp>
      <p:sp>
        <p:nvSpPr>
          <p:cNvPr id="274" name="Google Shape;274;p37"/>
          <p:cNvSpPr txBox="1"/>
          <p:nvPr/>
        </p:nvSpPr>
        <p:spPr>
          <a:xfrm>
            <a:off x="4236244" y="2830638"/>
            <a:ext cx="157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 dirty="0"/>
          </a:p>
        </p:txBody>
      </p:sp>
      <p:sp>
        <p:nvSpPr>
          <p:cNvPr id="275" name="Google Shape;275;p37"/>
          <p:cNvSpPr txBox="1"/>
          <p:nvPr/>
        </p:nvSpPr>
        <p:spPr>
          <a:xfrm>
            <a:off x="4236244" y="3463044"/>
            <a:ext cx="157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/>
          </a:p>
        </p:txBody>
      </p:sp>
      <p:sp>
        <p:nvSpPr>
          <p:cNvPr id="276" name="Google Shape;276;p37"/>
          <p:cNvSpPr txBox="1"/>
          <p:nvPr/>
        </p:nvSpPr>
        <p:spPr>
          <a:xfrm>
            <a:off x="4236244" y="4165191"/>
            <a:ext cx="157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 dirty="0"/>
          </a:p>
        </p:txBody>
      </p:sp>
      <p:sp>
        <p:nvSpPr>
          <p:cNvPr id="277" name="Google Shape;277;p37"/>
          <p:cNvSpPr txBox="1"/>
          <p:nvPr/>
        </p:nvSpPr>
        <p:spPr>
          <a:xfrm>
            <a:off x="23217" y="725536"/>
            <a:ext cx="85137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435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أثر تطبيق الحلول </a:t>
            </a:r>
            <a:r>
              <a:rPr lang="ar-EG" sz="435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(</a:t>
            </a:r>
            <a:r>
              <a:rPr lang="en" sz="435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محاكاة النتائج</a:t>
            </a:r>
            <a:r>
              <a:rPr lang="ar-EG" sz="4350" b="1" dirty="0">
                <a:latin typeface="Noto Sans Arabic"/>
                <a:ea typeface="Noto Sans Arabic"/>
                <a:cs typeface="Noto Sans Arabic"/>
                <a:sym typeface="Noto Sans Arabic"/>
              </a:rPr>
              <a:t>)</a:t>
            </a:r>
            <a:endParaRPr dirty="0"/>
          </a:p>
        </p:txBody>
      </p:sp>
      <p:sp>
        <p:nvSpPr>
          <p:cNvPr id="278" name="Google Shape;278;p37"/>
          <p:cNvSpPr/>
          <p:nvPr/>
        </p:nvSpPr>
        <p:spPr>
          <a:xfrm>
            <a:off x="8608220" y="725536"/>
            <a:ext cx="107100" cy="878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9" y="0"/>
            <a:ext cx="9144000" cy="4870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50594" y="1458186"/>
            <a:ext cx="3964781" cy="3382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1155155"/>
            <a:ext cx="3964781" cy="398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8625" y="4000640"/>
            <a:ext cx="3964781" cy="879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50594" y="1458186"/>
            <a:ext cx="3964781" cy="338228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8"/>
          <p:cNvSpPr txBox="1"/>
          <p:nvPr/>
        </p:nvSpPr>
        <p:spPr>
          <a:xfrm>
            <a:off x="428625" y="1371621"/>
            <a:ext cx="416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أزمة فئات الجولف والكاميرات</a:t>
            </a:r>
            <a:endParaRPr dirty="0"/>
          </a:p>
        </p:txBody>
      </p:sp>
      <p:sp>
        <p:nvSpPr>
          <p:cNvPr id="289" name="Google Shape;289;p38"/>
          <p:cNvSpPr txBox="1"/>
          <p:nvPr/>
        </p:nvSpPr>
        <p:spPr>
          <a:xfrm>
            <a:off x="428625" y="1980431"/>
            <a:ext cx="396480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فئات مثل </a:t>
            </a:r>
            <a:r>
              <a:rPr lang="en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Golf Shoes</a:t>
            </a:r>
            <a:r>
              <a:rPr lang="ar-EG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تسجل نسبة تأخير 68.85%</a:t>
            </a:r>
            <a:endParaRPr lang="ar-EG" b="0" i="0" u="none" strike="noStrike" cap="none" dirty="0">
              <a:solidFill>
                <a:srgbClr val="333333"/>
              </a:solidFill>
              <a:latin typeface="Noto Sans Arabic"/>
              <a:ea typeface="Noto Sans Arabic"/>
              <a:cs typeface="Noto Sans Arabic"/>
              <a:sym typeface="Noto Sans Arabic"/>
            </a:endParaRPr>
          </a:p>
          <a:p>
            <a:pPr marL="0" marR="0" lvl="0" indent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المشكلة تكمن في المورد (Lead Time)</a:t>
            </a:r>
            <a:r>
              <a:rPr lang="ar-EG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.</a:t>
            </a:r>
            <a:endParaRPr sz="1100" dirty="0"/>
          </a:p>
        </p:txBody>
      </p:sp>
      <p:sp>
        <p:nvSpPr>
          <p:cNvPr id="290" name="Google Shape;290;p38"/>
          <p:cNvSpPr txBox="1"/>
          <p:nvPr/>
        </p:nvSpPr>
        <p:spPr>
          <a:xfrm>
            <a:off x="3820331" y="4249087"/>
            <a:ext cx="41359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الحل</a:t>
            </a:r>
            <a:r>
              <a:rPr lang="en" sz="1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:</a:t>
            </a:r>
            <a:endParaRPr dirty="0"/>
          </a:p>
        </p:txBody>
      </p:sp>
      <p:sp>
        <p:nvSpPr>
          <p:cNvPr id="291" name="Google Shape;291;p38"/>
          <p:cNvSpPr txBox="1"/>
          <p:nvPr/>
        </p:nvSpPr>
        <p:spPr>
          <a:xfrm>
            <a:off x="47410" y="390368"/>
            <a:ext cx="85134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مشكلة (2)</a:t>
            </a:r>
            <a:r>
              <a:rPr lang="ar-EG" sz="3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: </a:t>
            </a:r>
            <a:r>
              <a:rPr lang="en" sz="3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فشل الموردين في فئات محددة</a:t>
            </a:r>
            <a:endParaRPr sz="1050" dirty="0"/>
          </a:p>
        </p:txBody>
      </p:sp>
      <p:sp>
        <p:nvSpPr>
          <p:cNvPr id="292" name="Google Shape;292;p38"/>
          <p:cNvSpPr/>
          <p:nvPr/>
        </p:nvSpPr>
        <p:spPr>
          <a:xfrm>
            <a:off x="8608220" y="223009"/>
            <a:ext cx="107100" cy="83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6194A7B-2E2B-4076-EAA6-CC17F26FE3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44" t="30595" r="17466" b="41307"/>
          <a:stretch>
            <a:fillRect/>
          </a:stretch>
        </p:blipFill>
        <p:spPr>
          <a:xfrm>
            <a:off x="433952" y="411899"/>
            <a:ext cx="4700045" cy="8016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C3FDA7-8E45-5B6F-2DE6-DA605125A7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9" t="69500" r="76435" b="13449"/>
          <a:stretch>
            <a:fillRect/>
          </a:stretch>
        </p:blipFill>
        <p:spPr>
          <a:xfrm>
            <a:off x="6318397" y="410318"/>
            <a:ext cx="2391651" cy="804774"/>
          </a:xfrm>
          <a:prstGeom prst="rect">
            <a:avLst/>
          </a:prstGeom>
        </p:spPr>
      </p:pic>
      <p:sp>
        <p:nvSpPr>
          <p:cNvPr id="15" name="Google Shape;262;p36">
            <a:extLst>
              <a:ext uri="{FF2B5EF4-FFF2-40B4-BE49-F238E27FC236}">
                <a16:creationId xmlns:a16="http://schemas.microsoft.com/office/drawing/2014/main" id="{0FEAC8F1-0B5F-9687-BD73-654A562E6EDA}"/>
              </a:ext>
            </a:extLst>
          </p:cNvPr>
          <p:cNvSpPr txBox="1"/>
          <p:nvPr/>
        </p:nvSpPr>
        <p:spPr>
          <a:xfrm>
            <a:off x="3352435" y="172385"/>
            <a:ext cx="2439131" cy="22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 rtl="1"/>
            <a:r>
              <a:rPr lang="ar-EG" dirty="0"/>
              <a:t>عدد الطلبات الفعلي وعدد الطلبات المتأخرة</a:t>
            </a:r>
            <a:endParaRPr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DA86A0B-7135-967D-632C-30DE4DFCAA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67" t="2857" r="1883" b="58907"/>
          <a:stretch>
            <a:fillRect/>
          </a:stretch>
        </p:blipFill>
        <p:spPr>
          <a:xfrm>
            <a:off x="433952" y="1793611"/>
            <a:ext cx="5184184" cy="9729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2186BEA-BE11-EF82-5E7C-3CBA4397C2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9" t="71301" r="70260" b="12063"/>
          <a:stretch>
            <a:fillRect/>
          </a:stretch>
        </p:blipFill>
        <p:spPr>
          <a:xfrm>
            <a:off x="6318397" y="1958802"/>
            <a:ext cx="2391651" cy="642580"/>
          </a:xfrm>
          <a:prstGeom prst="rect">
            <a:avLst/>
          </a:prstGeom>
        </p:spPr>
      </p:pic>
      <p:sp>
        <p:nvSpPr>
          <p:cNvPr id="20" name="Google Shape;262;p36">
            <a:extLst>
              <a:ext uri="{FF2B5EF4-FFF2-40B4-BE49-F238E27FC236}">
                <a16:creationId xmlns:a16="http://schemas.microsoft.com/office/drawing/2014/main" id="{21B05FC2-70BB-1A36-CCE9-04DE24A0C07D}"/>
              </a:ext>
            </a:extLst>
          </p:cNvPr>
          <p:cNvSpPr txBox="1"/>
          <p:nvPr/>
        </p:nvSpPr>
        <p:spPr>
          <a:xfrm>
            <a:off x="2995048" y="1432680"/>
            <a:ext cx="315390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 rtl="1"/>
            <a:r>
              <a:rPr lang="ar-SA" dirty="0"/>
              <a:t>تحليل كفاءة التوصيل حسب نوع الشح</a:t>
            </a:r>
            <a:r>
              <a:rPr lang="ar-EG" dirty="0"/>
              <a:t>ن</a:t>
            </a:r>
            <a:r>
              <a:rPr lang="ar-SA" dirty="0"/>
              <a:t> </a:t>
            </a:r>
            <a:r>
              <a:rPr lang="ar-EG" dirty="0"/>
              <a:t>ونسبة التأخير </a:t>
            </a:r>
            <a:endParaRPr sz="10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98A71A4-04D7-CEEE-547D-C4D5A6395A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37" t="2828" r="29496" b="61799"/>
          <a:stretch>
            <a:fillRect/>
          </a:stretch>
        </p:blipFill>
        <p:spPr>
          <a:xfrm>
            <a:off x="433952" y="3405573"/>
            <a:ext cx="5281942" cy="13597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6EA10F3-C4E3-8D0A-0D01-8DBAAE4E54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71" t="52968" r="67219" b="7388"/>
          <a:stretch>
            <a:fillRect/>
          </a:stretch>
        </p:blipFill>
        <p:spPr>
          <a:xfrm>
            <a:off x="6069005" y="3260142"/>
            <a:ext cx="2890434" cy="1650570"/>
          </a:xfrm>
          <a:prstGeom prst="rect">
            <a:avLst/>
          </a:prstGeom>
        </p:spPr>
      </p:pic>
      <p:sp>
        <p:nvSpPr>
          <p:cNvPr id="24" name="Google Shape;343;p41">
            <a:extLst>
              <a:ext uri="{FF2B5EF4-FFF2-40B4-BE49-F238E27FC236}">
                <a16:creationId xmlns:a16="http://schemas.microsoft.com/office/drawing/2014/main" id="{C3C7EB54-1DBD-4A8E-0F04-7B3B0DF28CD0}"/>
              </a:ext>
            </a:extLst>
          </p:cNvPr>
          <p:cNvSpPr/>
          <p:nvPr/>
        </p:nvSpPr>
        <p:spPr>
          <a:xfrm rot="16200000" flipH="1">
            <a:off x="4549141" y="-866416"/>
            <a:ext cx="45719" cy="441308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343;p41">
            <a:extLst>
              <a:ext uri="{FF2B5EF4-FFF2-40B4-BE49-F238E27FC236}">
                <a16:creationId xmlns:a16="http://schemas.microsoft.com/office/drawing/2014/main" id="{9A40DB35-1A5F-5323-34AE-ACF3240CA520}"/>
              </a:ext>
            </a:extLst>
          </p:cNvPr>
          <p:cNvSpPr/>
          <p:nvPr/>
        </p:nvSpPr>
        <p:spPr>
          <a:xfrm rot="16200000" flipH="1">
            <a:off x="4549141" y="651436"/>
            <a:ext cx="45719" cy="441308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2;p36">
            <a:extLst>
              <a:ext uri="{FF2B5EF4-FFF2-40B4-BE49-F238E27FC236}">
                <a16:creationId xmlns:a16="http://schemas.microsoft.com/office/drawing/2014/main" id="{8C19B680-5018-E807-A0A5-8C3862CD4F4A}"/>
              </a:ext>
            </a:extLst>
          </p:cNvPr>
          <p:cNvSpPr txBox="1"/>
          <p:nvPr/>
        </p:nvSpPr>
        <p:spPr>
          <a:xfrm>
            <a:off x="3316638" y="2980739"/>
            <a:ext cx="251072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 rtl="1"/>
            <a:r>
              <a:rPr lang="ar-SA" dirty="0"/>
              <a:t>تحليل كفاءة الشحن حسب الأقاليم الجغرافية</a:t>
            </a:r>
            <a:endParaRPr sz="1050" dirty="0"/>
          </a:p>
        </p:txBody>
      </p:sp>
    </p:spTree>
    <p:extLst>
      <p:ext uri="{BB962C8B-B14F-4D97-AF65-F5344CB8AC3E}">
        <p14:creationId xmlns:p14="http://schemas.microsoft.com/office/powerpoint/2010/main" val="662849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AEDECD-0EF5-EFBB-C113-D8E2984F9F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51" t="18490" r="60000" b="51842"/>
          <a:stretch>
            <a:fillRect/>
          </a:stretch>
        </p:blipFill>
        <p:spPr>
          <a:xfrm>
            <a:off x="285364" y="658950"/>
            <a:ext cx="3366902" cy="1277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60A99A-FB97-0018-B359-5111F039C3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3" t="63927" r="80932" b="12421"/>
          <a:stretch>
            <a:fillRect/>
          </a:stretch>
        </p:blipFill>
        <p:spPr>
          <a:xfrm>
            <a:off x="5920435" y="658950"/>
            <a:ext cx="2442174" cy="1277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71061C-FE44-F614-006D-3313965BE2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57" t="12167" r="1527" b="53419"/>
          <a:stretch>
            <a:fillRect/>
          </a:stretch>
        </p:blipFill>
        <p:spPr>
          <a:xfrm>
            <a:off x="285364" y="2443887"/>
            <a:ext cx="8573272" cy="14771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2284CB-1A3E-A8E7-9581-DD695C4FA0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8" t="54417" r="67203" b="3680"/>
          <a:stretch>
            <a:fillRect/>
          </a:stretch>
        </p:blipFill>
        <p:spPr>
          <a:xfrm>
            <a:off x="5424407" y="3214929"/>
            <a:ext cx="3434230" cy="1799684"/>
          </a:xfrm>
          <a:prstGeom prst="rect">
            <a:avLst/>
          </a:prstGeom>
        </p:spPr>
      </p:pic>
      <p:sp>
        <p:nvSpPr>
          <p:cNvPr id="8" name="Google Shape;262;p36">
            <a:extLst>
              <a:ext uri="{FF2B5EF4-FFF2-40B4-BE49-F238E27FC236}">
                <a16:creationId xmlns:a16="http://schemas.microsoft.com/office/drawing/2014/main" id="{0EB2EDD2-A2C4-E88C-9167-D11196F96157}"/>
              </a:ext>
            </a:extLst>
          </p:cNvPr>
          <p:cNvSpPr txBox="1"/>
          <p:nvPr/>
        </p:nvSpPr>
        <p:spPr>
          <a:xfrm>
            <a:off x="3295790" y="172385"/>
            <a:ext cx="255242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 rtl="1"/>
            <a:r>
              <a:rPr lang="ar-EG" dirty="0"/>
              <a:t>عدد الأيام المجدولة للشحن وعدد الأيام الفعلي</a:t>
            </a:r>
            <a:endParaRPr sz="1050" dirty="0"/>
          </a:p>
        </p:txBody>
      </p:sp>
      <p:sp>
        <p:nvSpPr>
          <p:cNvPr id="9" name="Google Shape;262;p36">
            <a:extLst>
              <a:ext uri="{FF2B5EF4-FFF2-40B4-BE49-F238E27FC236}">
                <a16:creationId xmlns:a16="http://schemas.microsoft.com/office/drawing/2014/main" id="{45D65DCD-6C77-7702-6BFC-1B3B8EB46AA2}"/>
              </a:ext>
            </a:extLst>
          </p:cNvPr>
          <p:cNvSpPr txBox="1"/>
          <p:nvPr/>
        </p:nvSpPr>
        <p:spPr>
          <a:xfrm>
            <a:off x="3067190" y="2235428"/>
            <a:ext cx="300962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 rtl="1"/>
            <a:r>
              <a:rPr lang="ar-EG" dirty="0"/>
              <a:t>عرض مشكلة تأخر </a:t>
            </a:r>
            <a:r>
              <a:rPr lang="en-US" dirty="0"/>
              <a:t>categories</a:t>
            </a:r>
            <a:r>
              <a:rPr lang="ar-EG" dirty="0"/>
              <a:t> من قبل الموردين</a:t>
            </a:r>
            <a:endParaRPr sz="1050" dirty="0"/>
          </a:p>
        </p:txBody>
      </p:sp>
      <p:sp>
        <p:nvSpPr>
          <p:cNvPr id="10" name="Google Shape;343;p41">
            <a:extLst>
              <a:ext uri="{FF2B5EF4-FFF2-40B4-BE49-F238E27FC236}">
                <a16:creationId xmlns:a16="http://schemas.microsoft.com/office/drawing/2014/main" id="{C735E3F3-C3F6-F45C-4269-81888DC950DF}"/>
              </a:ext>
            </a:extLst>
          </p:cNvPr>
          <p:cNvSpPr/>
          <p:nvPr/>
        </p:nvSpPr>
        <p:spPr>
          <a:xfrm rot="16200000" flipH="1">
            <a:off x="4549140" y="-116153"/>
            <a:ext cx="45719" cy="441308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012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9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9"/>
          <p:cNvSpPr txBox="1"/>
          <p:nvPr/>
        </p:nvSpPr>
        <p:spPr>
          <a:xfrm>
            <a:off x="2010430" y="1450181"/>
            <a:ext cx="5123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875" b="1">
                <a:latin typeface="Noto Sans Arabic"/>
                <a:ea typeface="Noto Sans Arabic"/>
                <a:cs typeface="Noto Sans Arabic"/>
                <a:sym typeface="Noto Sans Arabic"/>
              </a:rPr>
              <a:t>SALES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9"/>
          <p:cNvSpPr txBox="1"/>
          <p:nvPr/>
        </p:nvSpPr>
        <p:spPr>
          <a:xfrm>
            <a:off x="2010425" y="2250275"/>
            <a:ext cx="53766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625" b="1">
                <a:latin typeface="Noto Sans Arabic"/>
                <a:ea typeface="Noto Sans Arabic"/>
                <a:cs typeface="Noto Sans Arabic"/>
                <a:sym typeface="Noto Sans Arabic"/>
              </a:rPr>
              <a:t>PERFORMANCE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9"/>
          <p:cNvSpPr txBox="1"/>
          <p:nvPr/>
        </p:nvSpPr>
        <p:spPr>
          <a:xfrm>
            <a:off x="2132410" y="3178969"/>
            <a:ext cx="48792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AND STRATEGIC GROWTH</a:t>
            </a:r>
            <a:endParaRPr sz="1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9"/>
          <p:cNvSpPr txBox="1"/>
          <p:nvPr/>
        </p:nvSpPr>
        <p:spPr>
          <a:xfrm>
            <a:off x="428625" y="285750"/>
            <a:ext cx="9858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750" b="1" i="0" u="none" strike="noStrike" cap="non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0</a:t>
            </a:r>
            <a:r>
              <a:rPr lang="en" sz="6750" b="1">
                <a:latin typeface="Noto Sans Arabic"/>
                <a:ea typeface="Noto Sans Arabic"/>
                <a:cs typeface="Noto Sans Arabic"/>
                <a:sym typeface="Noto Sans Arabic"/>
              </a:rPr>
              <a:t>2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6" y="2410628"/>
            <a:ext cx="4000500" cy="1918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4875" y="3514783"/>
            <a:ext cx="4000500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4875" y="4114858"/>
            <a:ext cx="4000500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14875" y="3514783"/>
            <a:ext cx="4000500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75365" y="4114858"/>
            <a:ext cx="440010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0"/>
          <p:cNvSpPr txBox="1"/>
          <p:nvPr/>
        </p:nvSpPr>
        <p:spPr>
          <a:xfrm>
            <a:off x="6161110" y="2039173"/>
            <a:ext cx="244711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فجوة الـ 9</a:t>
            </a:r>
            <a:r>
              <a:rPr lang="ar-EG" sz="21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21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أضعاف</a:t>
            </a:r>
            <a:endParaRPr dirty="0"/>
          </a:p>
        </p:txBody>
      </p:sp>
      <p:sp>
        <p:nvSpPr>
          <p:cNvPr id="313" name="Google Shape;313;p40"/>
          <p:cNvSpPr txBox="1"/>
          <p:nvPr/>
        </p:nvSpPr>
        <p:spPr>
          <a:xfrm>
            <a:off x="4714875" y="2460522"/>
            <a:ext cx="4000500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المبيعات تنهار في يونيو ($3,017) وتقفز في أكتوبر ($27,731). المشكلة في تثبيت ميزانية التسويق طوال العام.</a:t>
            </a:r>
            <a:endParaRPr dirty="0"/>
          </a:p>
        </p:txBody>
      </p:sp>
      <p:sp>
        <p:nvSpPr>
          <p:cNvPr id="314" name="Google Shape;314;p40"/>
          <p:cNvSpPr txBox="1"/>
          <p:nvPr/>
        </p:nvSpPr>
        <p:spPr>
          <a:xfrm>
            <a:off x="2621446" y="2568166"/>
            <a:ext cx="1658622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الحل والأثر</a:t>
            </a:r>
            <a:endParaRPr dirty="0"/>
          </a:p>
        </p:txBody>
      </p:sp>
      <p:sp>
        <p:nvSpPr>
          <p:cNvPr id="315" name="Google Shape;315;p40"/>
          <p:cNvSpPr txBox="1"/>
          <p:nvPr/>
        </p:nvSpPr>
        <p:spPr>
          <a:xfrm>
            <a:off x="4714875" y="3236177"/>
            <a:ext cx="400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شهر أكتوبر </a:t>
            </a:r>
            <a:r>
              <a:rPr lang="ar-EG" sz="1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(</a:t>
            </a:r>
            <a:r>
              <a:rPr lang="en" sz="1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الذروة</a:t>
            </a:r>
            <a:r>
              <a:rPr lang="ar-EG" sz="1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)</a:t>
            </a:r>
            <a:endParaRPr dirty="0"/>
          </a:p>
        </p:txBody>
      </p:sp>
      <p:sp>
        <p:nvSpPr>
          <p:cNvPr id="316" name="Google Shape;316;p40"/>
          <p:cNvSpPr txBox="1"/>
          <p:nvPr/>
        </p:nvSpPr>
        <p:spPr>
          <a:xfrm>
            <a:off x="4714875" y="3836252"/>
            <a:ext cx="400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شهر يونيو </a:t>
            </a:r>
            <a:r>
              <a:rPr lang="ar-EG" sz="1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(</a:t>
            </a:r>
            <a:r>
              <a:rPr lang="en" sz="1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الركود</a:t>
            </a:r>
            <a:r>
              <a:rPr lang="ar-EG" sz="1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)</a:t>
            </a:r>
            <a:endParaRPr dirty="0"/>
          </a:p>
        </p:txBody>
      </p:sp>
      <p:sp>
        <p:nvSpPr>
          <p:cNvPr id="317" name="Google Shape;317;p40"/>
          <p:cNvSpPr txBox="1"/>
          <p:nvPr/>
        </p:nvSpPr>
        <p:spPr>
          <a:xfrm>
            <a:off x="607220" y="2991818"/>
            <a:ext cx="3429000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إعادة الهيكلة:</a:t>
            </a:r>
            <a:r>
              <a:rPr lang="en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ترحيل ميزانية أضعف 3</a:t>
            </a:r>
            <a:r>
              <a:rPr lang="ar-EG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شهور لدعم مخزون الذروة.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18" name="Google Shape;318;p40"/>
          <p:cNvSpPr txBox="1"/>
          <p:nvPr/>
        </p:nvSpPr>
        <p:spPr>
          <a:xfrm>
            <a:off x="607220" y="3559690"/>
            <a:ext cx="342900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المال:</a:t>
            </a:r>
            <a:r>
              <a:rPr lang="en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توفير 30%</a:t>
            </a:r>
            <a:r>
              <a:rPr lang="ar-EG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من المصاريف الإعلانية المهدرة.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19" name="Google Shape;319;p40"/>
          <p:cNvSpPr txBox="1"/>
          <p:nvPr/>
        </p:nvSpPr>
        <p:spPr>
          <a:xfrm>
            <a:off x="607220" y="3856344"/>
            <a:ext cx="342900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الأداء:</a:t>
            </a:r>
            <a:r>
              <a:rPr lang="en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رفع مبيعات الذروة بنسبة </a:t>
            </a:r>
            <a:r>
              <a:rPr lang="ar-EG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%</a:t>
            </a:r>
            <a:r>
              <a:rPr lang="ar-EG" sz="1350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30</a:t>
            </a:r>
            <a:r>
              <a:rPr lang="en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إضافية.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20" name="Google Shape;320;p40"/>
          <p:cNvSpPr txBox="1"/>
          <p:nvPr/>
        </p:nvSpPr>
        <p:spPr>
          <a:xfrm>
            <a:off x="4121945" y="3325028"/>
            <a:ext cx="128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/>
          </a:p>
        </p:txBody>
      </p:sp>
      <p:sp>
        <p:nvSpPr>
          <p:cNvPr id="321" name="Google Shape;321;p40"/>
          <p:cNvSpPr txBox="1"/>
          <p:nvPr/>
        </p:nvSpPr>
        <p:spPr>
          <a:xfrm>
            <a:off x="4121945" y="3590686"/>
            <a:ext cx="128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/>
          </a:p>
        </p:txBody>
      </p:sp>
      <p:sp>
        <p:nvSpPr>
          <p:cNvPr id="322" name="Google Shape;322;p40"/>
          <p:cNvSpPr txBox="1"/>
          <p:nvPr/>
        </p:nvSpPr>
        <p:spPr>
          <a:xfrm>
            <a:off x="4121945" y="3856344"/>
            <a:ext cx="128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/>
          </a:p>
        </p:txBody>
      </p:sp>
      <p:sp>
        <p:nvSpPr>
          <p:cNvPr id="323" name="Google Shape;323;p40"/>
          <p:cNvSpPr txBox="1"/>
          <p:nvPr/>
        </p:nvSpPr>
        <p:spPr>
          <a:xfrm>
            <a:off x="23217" y="813884"/>
            <a:ext cx="851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</a:t>
            </a:r>
            <a:r>
              <a:rPr lang="ar-EG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.</a:t>
            </a:r>
            <a:r>
              <a:rPr lang="en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تحليل أوقات الذروة والركود</a:t>
            </a:r>
            <a:endParaRPr dirty="0"/>
          </a:p>
        </p:txBody>
      </p:sp>
      <p:sp>
        <p:nvSpPr>
          <p:cNvPr id="324" name="Google Shape;324;p40"/>
          <p:cNvSpPr/>
          <p:nvPr/>
        </p:nvSpPr>
        <p:spPr>
          <a:xfrm>
            <a:off x="8608220" y="713147"/>
            <a:ext cx="107400" cy="721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48413" y="1935286"/>
            <a:ext cx="2666963" cy="1435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8575" y="1935286"/>
            <a:ext cx="2666963" cy="1435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8625" y="1935286"/>
            <a:ext cx="2667074" cy="1435894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1"/>
          <p:cNvSpPr txBox="1"/>
          <p:nvPr/>
        </p:nvSpPr>
        <p:spPr>
          <a:xfrm>
            <a:off x="4714876" y="3493830"/>
            <a:ext cx="400020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المشكلة:</a:t>
            </a: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endParaRPr lang="ar-EG" sz="1350" b="0" i="0" u="none" strike="noStrike" cap="none" dirty="0">
              <a:solidFill>
                <a:srgbClr val="333333"/>
              </a:solidFill>
              <a:latin typeface="Noto Sans Arabic"/>
              <a:ea typeface="Noto Sans Arabic"/>
              <a:cs typeface="Noto Sans Arabic"/>
              <a:sym typeface="Noto Sans Arabic"/>
            </a:endParaRPr>
          </a:p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فئات (Hunting &amp; Shooting)</a:t>
            </a:r>
            <a:r>
              <a:rPr lang="ar-EG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و (Water Sports) تستنزف السيولة بخصومات هائلة لمجرد محاولة بيع منتجات غير مطلوبة.</a:t>
            </a:r>
            <a:endParaRPr dirty="0"/>
          </a:p>
        </p:txBody>
      </p:sp>
      <p:sp>
        <p:nvSpPr>
          <p:cNvPr id="334" name="Google Shape;334;p41"/>
          <p:cNvSpPr/>
          <p:nvPr/>
        </p:nvSpPr>
        <p:spPr>
          <a:xfrm>
            <a:off x="509807" y="3679808"/>
            <a:ext cx="4000200" cy="8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1"/>
          <p:cNvSpPr txBox="1"/>
          <p:nvPr/>
        </p:nvSpPr>
        <p:spPr>
          <a:xfrm>
            <a:off x="688401" y="3858401"/>
            <a:ext cx="3643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القرار:</a:t>
            </a:r>
            <a:r>
              <a:rPr lang="en" sz="120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فرض سقف خصم صارم (Discount Cap)</a:t>
            </a:r>
            <a:r>
              <a:rPr lang="ar-EG" sz="120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20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وإيقاف التعاقد الفوري مع موردي هذه الفئات.</a:t>
            </a:r>
            <a:endParaRPr dirty="0"/>
          </a:p>
        </p:txBody>
      </p:sp>
      <p:sp>
        <p:nvSpPr>
          <p:cNvPr id="336" name="Google Shape;336;p41"/>
          <p:cNvSpPr txBox="1"/>
          <p:nvPr/>
        </p:nvSpPr>
        <p:spPr>
          <a:xfrm>
            <a:off x="6234150" y="2121024"/>
            <a:ext cx="22956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$1.3M</a:t>
            </a:r>
            <a:endParaRPr dirty="0"/>
          </a:p>
        </p:txBody>
      </p:sp>
      <p:sp>
        <p:nvSpPr>
          <p:cNvPr id="337" name="Google Shape;337;p41"/>
          <p:cNvSpPr txBox="1"/>
          <p:nvPr/>
        </p:nvSpPr>
        <p:spPr>
          <a:xfrm>
            <a:off x="6234150" y="2913980"/>
            <a:ext cx="2295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 dirty="0">
                <a:solidFill>
                  <a:srgbClr val="666666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نزيف خصومات في فئتين فقط</a:t>
            </a:r>
            <a:endParaRPr dirty="0"/>
          </a:p>
        </p:txBody>
      </p:sp>
      <p:sp>
        <p:nvSpPr>
          <p:cNvPr id="338" name="Google Shape;338;p41"/>
          <p:cNvSpPr txBox="1"/>
          <p:nvPr/>
        </p:nvSpPr>
        <p:spPr>
          <a:xfrm>
            <a:off x="3424312" y="2121024"/>
            <a:ext cx="22956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15-20%</a:t>
            </a:r>
            <a:endParaRPr dirty="0"/>
          </a:p>
        </p:txBody>
      </p:sp>
      <p:sp>
        <p:nvSpPr>
          <p:cNvPr id="339" name="Google Shape;339;p41"/>
          <p:cNvSpPr txBox="1"/>
          <p:nvPr/>
        </p:nvSpPr>
        <p:spPr>
          <a:xfrm>
            <a:off x="3424312" y="2913980"/>
            <a:ext cx="2295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 dirty="0">
                <a:solidFill>
                  <a:srgbClr val="666666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تحسن متوقع في هامش الربح</a:t>
            </a:r>
            <a:endParaRPr dirty="0"/>
          </a:p>
        </p:txBody>
      </p:sp>
      <p:sp>
        <p:nvSpPr>
          <p:cNvPr id="340" name="Google Shape;340;p41"/>
          <p:cNvSpPr txBox="1"/>
          <p:nvPr/>
        </p:nvSpPr>
        <p:spPr>
          <a:xfrm>
            <a:off x="614363" y="2121024"/>
            <a:ext cx="22956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15%</a:t>
            </a:r>
            <a:endParaRPr dirty="0"/>
          </a:p>
        </p:txBody>
      </p:sp>
      <p:sp>
        <p:nvSpPr>
          <p:cNvPr id="341" name="Google Shape;341;p41"/>
          <p:cNvSpPr txBox="1"/>
          <p:nvPr/>
        </p:nvSpPr>
        <p:spPr>
          <a:xfrm>
            <a:off x="614363" y="2913980"/>
            <a:ext cx="2295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 dirty="0">
                <a:solidFill>
                  <a:srgbClr val="666666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توفير في مساحة المخازن</a:t>
            </a:r>
            <a:endParaRPr dirty="0"/>
          </a:p>
        </p:txBody>
      </p:sp>
      <p:sp>
        <p:nvSpPr>
          <p:cNvPr id="342" name="Google Shape;342;p41"/>
          <p:cNvSpPr txBox="1"/>
          <p:nvPr/>
        </p:nvSpPr>
        <p:spPr>
          <a:xfrm>
            <a:off x="23217" y="713147"/>
            <a:ext cx="8513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2</a:t>
            </a:r>
            <a:r>
              <a:rPr lang="ar-EG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.</a:t>
            </a:r>
            <a:r>
              <a:rPr lang="en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مصفوفة الخسائر وتآكل الأرباح</a:t>
            </a:r>
            <a:endParaRPr dirty="0"/>
          </a:p>
        </p:txBody>
      </p:sp>
      <p:sp>
        <p:nvSpPr>
          <p:cNvPr id="343" name="Google Shape;343;p41"/>
          <p:cNvSpPr/>
          <p:nvPr/>
        </p:nvSpPr>
        <p:spPr>
          <a:xfrm>
            <a:off x="8608220" y="565916"/>
            <a:ext cx="107100" cy="721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2255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2312565"/>
            <a:ext cx="4000500" cy="1738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4874" y="3486818"/>
            <a:ext cx="4000500" cy="21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4874" y="4086893"/>
            <a:ext cx="4000500" cy="21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14874" y="3486818"/>
            <a:ext cx="4000500" cy="21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35128" y="4086893"/>
            <a:ext cx="2680245" cy="21431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2"/>
          <p:cNvSpPr txBox="1"/>
          <p:nvPr/>
        </p:nvSpPr>
        <p:spPr>
          <a:xfrm>
            <a:off x="4714874" y="2155403"/>
            <a:ext cx="4200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فجوة القيمة الشرائية ($70)</a:t>
            </a:r>
            <a:endParaRPr dirty="0"/>
          </a:p>
        </p:txBody>
      </p:sp>
      <p:sp>
        <p:nvSpPr>
          <p:cNvPr id="355" name="Google Shape;355;p42"/>
          <p:cNvSpPr txBox="1"/>
          <p:nvPr/>
        </p:nvSpPr>
        <p:spPr>
          <a:xfrm>
            <a:off x="4714874" y="2519495"/>
            <a:ext cx="4000800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المتجر يفقد إيرادات محتملة بسبب عملاء الدفع النقدي الذين يشترون سلالاً أرخص.</a:t>
            </a:r>
            <a:endParaRPr dirty="0"/>
          </a:p>
        </p:txBody>
      </p:sp>
      <p:sp>
        <p:nvSpPr>
          <p:cNvPr id="356" name="Google Shape;356;p42"/>
          <p:cNvSpPr txBox="1"/>
          <p:nvPr/>
        </p:nvSpPr>
        <p:spPr>
          <a:xfrm>
            <a:off x="614362" y="2473605"/>
            <a:ext cx="3810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استراتيجية الحوافز الذكية</a:t>
            </a:r>
            <a:endParaRPr dirty="0"/>
          </a:p>
        </p:txBody>
      </p:sp>
      <p:sp>
        <p:nvSpPr>
          <p:cNvPr id="357" name="Google Shape;357;p42"/>
          <p:cNvSpPr txBox="1"/>
          <p:nvPr/>
        </p:nvSpPr>
        <p:spPr>
          <a:xfrm>
            <a:off x="614362" y="2829945"/>
            <a:ext cx="3629100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•</a:t>
            </a:r>
            <a:r>
              <a:rPr lang="ar-EG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تقديم شحن مجاني أو خصم 5% للدفع المسبق بالبطاقة.</a:t>
            </a:r>
            <a:endParaRPr dirty="0"/>
          </a:p>
        </p:txBody>
      </p:sp>
      <p:sp>
        <p:nvSpPr>
          <p:cNvPr id="358" name="Google Shape;358;p42"/>
          <p:cNvSpPr txBox="1"/>
          <p:nvPr/>
        </p:nvSpPr>
        <p:spPr>
          <a:xfrm>
            <a:off x="614362" y="3556917"/>
            <a:ext cx="362910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•</a:t>
            </a:r>
            <a:r>
              <a:rPr lang="ar-EG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3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الأثر:</a:t>
            </a: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زيادة إيرادات شريحة الكاش بنسبة 40%</a:t>
            </a:r>
            <a:r>
              <a:rPr lang="ar-EG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فورياً.</a:t>
            </a:r>
            <a:endParaRPr dirty="0"/>
          </a:p>
        </p:txBody>
      </p:sp>
      <p:sp>
        <p:nvSpPr>
          <p:cNvPr id="359" name="Google Shape;359;p42"/>
          <p:cNvSpPr txBox="1"/>
          <p:nvPr/>
        </p:nvSpPr>
        <p:spPr>
          <a:xfrm>
            <a:off x="4714874" y="3208212"/>
            <a:ext cx="400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الدفع الإلكتروني (TRANSFER/DEBIT) - AOV</a:t>
            </a:r>
            <a:endParaRPr dirty="0"/>
          </a:p>
        </p:txBody>
      </p:sp>
      <p:sp>
        <p:nvSpPr>
          <p:cNvPr id="360" name="Google Shape;360;p42"/>
          <p:cNvSpPr txBox="1"/>
          <p:nvPr/>
        </p:nvSpPr>
        <p:spPr>
          <a:xfrm>
            <a:off x="4714874" y="3808287"/>
            <a:ext cx="400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الدفع النقدي (CASH) - AOV</a:t>
            </a:r>
            <a:endParaRPr dirty="0"/>
          </a:p>
        </p:txBody>
      </p:sp>
      <p:sp>
        <p:nvSpPr>
          <p:cNvPr id="361" name="Google Shape;361;p42"/>
          <p:cNvSpPr txBox="1"/>
          <p:nvPr/>
        </p:nvSpPr>
        <p:spPr>
          <a:xfrm>
            <a:off x="23217" y="713146"/>
            <a:ext cx="851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3</a:t>
            </a:r>
            <a:r>
              <a:rPr lang="ar-EG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.</a:t>
            </a:r>
            <a:r>
              <a:rPr lang="en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متوسط الطلب وطرق الدفع</a:t>
            </a:r>
            <a:endParaRPr dirty="0"/>
          </a:p>
        </p:txBody>
      </p:sp>
      <p:sp>
        <p:nvSpPr>
          <p:cNvPr id="362" name="Google Shape;362;p42"/>
          <p:cNvSpPr/>
          <p:nvPr/>
        </p:nvSpPr>
        <p:spPr>
          <a:xfrm>
            <a:off x="8608217" y="713146"/>
            <a:ext cx="107100" cy="721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648978"/>
            <a:ext cx="8286750" cy="141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48413" y="3279093"/>
            <a:ext cx="2666963" cy="1435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38575" y="3279093"/>
            <a:ext cx="2666963" cy="1435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8625" y="3279093"/>
            <a:ext cx="2667075" cy="1435894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3"/>
          <p:cNvSpPr txBox="1"/>
          <p:nvPr/>
        </p:nvSpPr>
        <p:spPr>
          <a:xfrm>
            <a:off x="4293028" y="2027597"/>
            <a:ext cx="4276178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ثغرة التحويل البنكي (TRANSFER)</a:t>
            </a:r>
            <a:endParaRPr dirty="0"/>
          </a:p>
        </p:txBody>
      </p:sp>
      <p:sp>
        <p:nvSpPr>
          <p:cNvPr id="373" name="Google Shape;373;p43"/>
          <p:cNvSpPr txBox="1"/>
          <p:nvPr/>
        </p:nvSpPr>
        <p:spPr>
          <a:xfrm>
            <a:off x="607219" y="2577665"/>
            <a:ext cx="7929600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اكتشفنا أن 100%</a:t>
            </a:r>
            <a:r>
              <a:rPr lang="ar-EG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من محاولات النصب (Fraud)</a:t>
            </a:r>
            <a:r>
              <a:rPr lang="ar-EG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تتم عبر هذه الطريقة لمنتجات معينة مثل Nike</a:t>
            </a:r>
            <a:r>
              <a:rPr lang="ar-EG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و Perfect Fitness</a:t>
            </a:r>
            <a:r>
              <a:rPr lang="ar-EG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.</a:t>
            </a:r>
            <a:endParaRPr dirty="0"/>
          </a:p>
        </p:txBody>
      </p:sp>
      <p:sp>
        <p:nvSpPr>
          <p:cNvPr id="374" name="Google Shape;374;p43"/>
          <p:cNvSpPr txBox="1"/>
          <p:nvPr/>
        </p:nvSpPr>
        <p:spPr>
          <a:xfrm>
            <a:off x="6234150" y="3464830"/>
            <a:ext cx="22953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$20,000+</a:t>
            </a:r>
            <a:endParaRPr dirty="0"/>
          </a:p>
        </p:txBody>
      </p:sp>
      <p:sp>
        <p:nvSpPr>
          <p:cNvPr id="375" name="Google Shape;375;p43"/>
          <p:cNvSpPr txBox="1"/>
          <p:nvPr/>
        </p:nvSpPr>
        <p:spPr>
          <a:xfrm>
            <a:off x="6048413" y="4257786"/>
            <a:ext cx="2666907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 dirty="0">
                <a:solidFill>
                  <a:srgbClr val="666666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إيرادات وهمية (Fake Revenue)</a:t>
            </a:r>
            <a:endParaRPr dirty="0"/>
          </a:p>
        </p:txBody>
      </p:sp>
      <p:sp>
        <p:nvSpPr>
          <p:cNvPr id="376" name="Google Shape;376;p43"/>
          <p:cNvSpPr txBox="1"/>
          <p:nvPr/>
        </p:nvSpPr>
        <p:spPr>
          <a:xfrm>
            <a:off x="3424312" y="3464830"/>
            <a:ext cx="22953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20%</a:t>
            </a:r>
            <a:endParaRPr dirty="0"/>
          </a:p>
        </p:txBody>
      </p:sp>
      <p:sp>
        <p:nvSpPr>
          <p:cNvPr id="377" name="Google Shape;377;p43"/>
          <p:cNvSpPr txBox="1"/>
          <p:nvPr/>
        </p:nvSpPr>
        <p:spPr>
          <a:xfrm>
            <a:off x="3281437" y="4257786"/>
            <a:ext cx="2581049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 dirty="0">
                <a:solidFill>
                  <a:srgbClr val="666666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خفض مستهدف لمعدل الاحتيال</a:t>
            </a:r>
            <a:endParaRPr dirty="0"/>
          </a:p>
        </p:txBody>
      </p:sp>
      <p:sp>
        <p:nvSpPr>
          <p:cNvPr id="378" name="Google Shape;378;p43"/>
          <p:cNvSpPr txBox="1"/>
          <p:nvPr/>
        </p:nvSpPr>
        <p:spPr>
          <a:xfrm>
            <a:off x="614363" y="3464830"/>
            <a:ext cx="22959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DEBIT</a:t>
            </a:r>
            <a:endParaRPr dirty="0"/>
          </a:p>
        </p:txBody>
      </p:sp>
      <p:sp>
        <p:nvSpPr>
          <p:cNvPr id="379" name="Google Shape;379;p43"/>
          <p:cNvSpPr txBox="1"/>
          <p:nvPr/>
        </p:nvSpPr>
        <p:spPr>
          <a:xfrm>
            <a:off x="614363" y="4257786"/>
            <a:ext cx="2295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 dirty="0">
                <a:solidFill>
                  <a:srgbClr val="666666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الحل: فرض المصادقة الفورية</a:t>
            </a:r>
            <a:endParaRPr dirty="0"/>
          </a:p>
        </p:txBody>
      </p:sp>
      <p:sp>
        <p:nvSpPr>
          <p:cNvPr id="380" name="Google Shape;380;p43"/>
          <p:cNvSpPr txBox="1"/>
          <p:nvPr/>
        </p:nvSpPr>
        <p:spPr>
          <a:xfrm>
            <a:off x="23217" y="790637"/>
            <a:ext cx="8513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4</a:t>
            </a:r>
            <a:r>
              <a:rPr lang="ar-EG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.</a:t>
            </a:r>
            <a:r>
              <a:rPr lang="en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الربحية الوهمية والثغرة الأمنية</a:t>
            </a:r>
            <a:endParaRPr dirty="0"/>
          </a:p>
        </p:txBody>
      </p:sp>
      <p:sp>
        <p:nvSpPr>
          <p:cNvPr id="381" name="Google Shape;381;p43"/>
          <p:cNvSpPr/>
          <p:nvPr/>
        </p:nvSpPr>
        <p:spPr>
          <a:xfrm>
            <a:off x="8608220" y="713147"/>
            <a:ext cx="107100" cy="721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2074645"/>
            <a:ext cx="4000500" cy="1610022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4"/>
          <p:cNvSpPr txBox="1"/>
          <p:nvPr/>
        </p:nvSpPr>
        <p:spPr>
          <a:xfrm>
            <a:off x="4714875" y="2220189"/>
            <a:ext cx="420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تحليل سلة المشتريات</a:t>
            </a:r>
            <a:endParaRPr dirty="0"/>
          </a:p>
        </p:txBody>
      </p:sp>
      <p:sp>
        <p:nvSpPr>
          <p:cNvPr id="389" name="Google Shape;389;p44"/>
          <p:cNvSpPr txBox="1"/>
          <p:nvPr/>
        </p:nvSpPr>
        <p:spPr>
          <a:xfrm>
            <a:off x="4714875" y="2754757"/>
            <a:ext cx="4000500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الأوردرات التي تتجاوز $1,400</a:t>
            </a:r>
            <a:r>
              <a:rPr lang="ar-EG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تحتوي دائماً على منتج مخفض يعمل كـ "طُعم" </a:t>
            </a:r>
            <a:r>
              <a:rPr lang="ar-EG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لجذب العميل لشراء منتجات أخرى عالية الربحية.</a:t>
            </a:r>
            <a:endParaRPr dirty="0"/>
          </a:p>
        </p:txBody>
      </p:sp>
      <p:sp>
        <p:nvSpPr>
          <p:cNvPr id="390" name="Google Shape;390;p44"/>
          <p:cNvSpPr txBox="1"/>
          <p:nvPr/>
        </p:nvSpPr>
        <p:spPr>
          <a:xfrm>
            <a:off x="498127" y="2220189"/>
            <a:ext cx="3810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توصية الـ Bundles</a:t>
            </a:r>
            <a:endParaRPr dirty="0"/>
          </a:p>
        </p:txBody>
      </p:sp>
      <p:sp>
        <p:nvSpPr>
          <p:cNvPr id="391" name="Google Shape;391;p44"/>
          <p:cNvSpPr txBox="1"/>
          <p:nvPr/>
        </p:nvSpPr>
        <p:spPr>
          <a:xfrm>
            <a:off x="544621" y="2754757"/>
            <a:ext cx="3629100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منع بيع "المنتج الخاسر"</a:t>
            </a:r>
            <a:r>
              <a:rPr lang="ar-EG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بمفرده؛ يجب ربطه بمنتجات رابحة ضمن حزم (Bundles)</a:t>
            </a:r>
            <a:r>
              <a:rPr lang="ar-EG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لتعويض الخصم وتحقيق صافي مكسب.</a:t>
            </a:r>
            <a:endParaRPr dirty="0"/>
          </a:p>
        </p:txBody>
      </p:sp>
      <p:sp>
        <p:nvSpPr>
          <p:cNvPr id="392" name="Google Shape;392;p44"/>
          <p:cNvSpPr txBox="1"/>
          <p:nvPr/>
        </p:nvSpPr>
        <p:spPr>
          <a:xfrm>
            <a:off x="23217" y="790637"/>
            <a:ext cx="851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5</a:t>
            </a:r>
            <a:r>
              <a:rPr lang="ar-EG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.</a:t>
            </a:r>
            <a:r>
              <a:rPr lang="en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الارتباط الشرائي واستراتيجية "الطُعم"</a:t>
            </a:r>
            <a:endParaRPr dirty="0"/>
          </a:p>
        </p:txBody>
      </p:sp>
      <p:sp>
        <p:nvSpPr>
          <p:cNvPr id="393" name="Google Shape;393;p44"/>
          <p:cNvSpPr/>
          <p:nvPr/>
        </p:nvSpPr>
        <p:spPr>
          <a:xfrm>
            <a:off x="8608219" y="713147"/>
            <a:ext cx="107100" cy="72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2406104"/>
            <a:ext cx="4000500" cy="1551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4875" y="3479675"/>
            <a:ext cx="4000500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14875" y="4079749"/>
            <a:ext cx="4000500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4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14875" y="3479675"/>
            <a:ext cx="4000500" cy="21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4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14900" y="4079749"/>
            <a:ext cx="3800475" cy="214313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5"/>
          <p:cNvSpPr txBox="1"/>
          <p:nvPr/>
        </p:nvSpPr>
        <p:spPr>
          <a:xfrm>
            <a:off x="4515019" y="2128319"/>
            <a:ext cx="4200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فخ الـ 25%</a:t>
            </a:r>
            <a:endParaRPr dirty="0"/>
          </a:p>
        </p:txBody>
      </p:sp>
      <p:sp>
        <p:nvSpPr>
          <p:cNvPr id="405" name="Google Shape;405;p45"/>
          <p:cNvSpPr txBox="1"/>
          <p:nvPr/>
        </p:nvSpPr>
        <p:spPr>
          <a:xfrm>
            <a:off x="4714875" y="2495641"/>
            <a:ext cx="4000500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ندفع أكثر من ضعف التكلفة عند نسبة 25%</a:t>
            </a:r>
            <a:r>
              <a:rPr lang="ar-EG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لنحصل على نفس المبيعات تقريباً عند نسبة 10%</a:t>
            </a:r>
            <a:r>
              <a:rPr lang="ar-EG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.</a:t>
            </a:r>
            <a:endParaRPr dirty="0"/>
          </a:p>
        </p:txBody>
      </p:sp>
      <p:sp>
        <p:nvSpPr>
          <p:cNvPr id="406" name="Google Shape;406;p45"/>
          <p:cNvSpPr txBox="1"/>
          <p:nvPr/>
        </p:nvSpPr>
        <p:spPr>
          <a:xfrm>
            <a:off x="607219" y="2584697"/>
            <a:ext cx="36432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 b="1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$300,000</a:t>
            </a:r>
            <a:endParaRPr dirty="0"/>
          </a:p>
        </p:txBody>
      </p:sp>
      <p:sp>
        <p:nvSpPr>
          <p:cNvPr id="407" name="Google Shape;407;p45"/>
          <p:cNvSpPr txBox="1"/>
          <p:nvPr/>
        </p:nvSpPr>
        <p:spPr>
          <a:xfrm>
            <a:off x="428625" y="3222553"/>
            <a:ext cx="3821794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توفير مباشر عند اعتماد "النسبة الذهبية" (10% - 13%) كمعيار للحملات.</a:t>
            </a:r>
            <a:endParaRPr dirty="0"/>
          </a:p>
        </p:txBody>
      </p:sp>
      <p:sp>
        <p:nvSpPr>
          <p:cNvPr id="408" name="Google Shape;408;p45"/>
          <p:cNvSpPr txBox="1"/>
          <p:nvPr/>
        </p:nvSpPr>
        <p:spPr>
          <a:xfrm>
            <a:off x="4714875" y="3201068"/>
            <a:ext cx="400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تكلفة خصم 25% ($511k)</a:t>
            </a:r>
            <a:endParaRPr dirty="0"/>
          </a:p>
        </p:txBody>
      </p:sp>
      <p:sp>
        <p:nvSpPr>
          <p:cNvPr id="409" name="Google Shape;409;p45"/>
          <p:cNvSpPr txBox="1"/>
          <p:nvPr/>
        </p:nvSpPr>
        <p:spPr>
          <a:xfrm>
            <a:off x="4714875" y="3801143"/>
            <a:ext cx="400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تكلفة خصم 10% ($204k)</a:t>
            </a:r>
            <a:endParaRPr dirty="0"/>
          </a:p>
        </p:txBody>
      </p:sp>
      <p:sp>
        <p:nvSpPr>
          <p:cNvPr id="410" name="Google Shape;410;p45"/>
          <p:cNvSpPr txBox="1"/>
          <p:nvPr/>
        </p:nvSpPr>
        <p:spPr>
          <a:xfrm>
            <a:off x="23217" y="713146"/>
            <a:ext cx="8513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6</a:t>
            </a:r>
            <a:r>
              <a:rPr lang="ar-EG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.</a:t>
            </a:r>
            <a:r>
              <a:rPr lang="en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الجدوى الحقيقية للخصومات</a:t>
            </a:r>
            <a:endParaRPr dirty="0"/>
          </a:p>
        </p:txBody>
      </p:sp>
      <p:sp>
        <p:nvSpPr>
          <p:cNvPr id="411" name="Google Shape;411;p45"/>
          <p:cNvSpPr/>
          <p:nvPr/>
        </p:nvSpPr>
        <p:spPr>
          <a:xfrm>
            <a:off x="8608219" y="604660"/>
            <a:ext cx="107100" cy="721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321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48413" y="2173262"/>
            <a:ext cx="2666962" cy="2017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4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8575" y="2173262"/>
            <a:ext cx="2666962" cy="2017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8625" y="2173262"/>
            <a:ext cx="2667074" cy="2017216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46"/>
          <p:cNvSpPr txBox="1"/>
          <p:nvPr/>
        </p:nvSpPr>
        <p:spPr>
          <a:xfrm>
            <a:off x="6234150" y="2307482"/>
            <a:ext cx="2410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أسواق النخبة (Premium)</a:t>
            </a:r>
            <a:endParaRPr dirty="0"/>
          </a:p>
        </p:txBody>
      </p:sp>
      <p:sp>
        <p:nvSpPr>
          <p:cNvPr id="421" name="Google Shape;421;p46"/>
          <p:cNvSpPr txBox="1"/>
          <p:nvPr/>
        </p:nvSpPr>
        <p:spPr>
          <a:xfrm>
            <a:off x="6234150" y="3184529"/>
            <a:ext cx="2295600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شرق آسيا وشمال أوروبا:</a:t>
            </a:r>
            <a:r>
              <a:rPr lang="ar-EG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إيرادات مليونية بخصومات 4%</a:t>
            </a:r>
            <a:r>
              <a:rPr lang="ar-EG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فقط. </a:t>
            </a:r>
            <a:r>
              <a:rPr lang="en" sz="13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القرار: البيع بالسعر الكامل.</a:t>
            </a:r>
            <a:endParaRPr dirty="0"/>
          </a:p>
        </p:txBody>
      </p:sp>
      <p:sp>
        <p:nvSpPr>
          <p:cNvPr id="422" name="Google Shape;422;p46"/>
          <p:cNvSpPr txBox="1"/>
          <p:nvPr/>
        </p:nvSpPr>
        <p:spPr>
          <a:xfrm>
            <a:off x="3417168" y="2307482"/>
            <a:ext cx="2425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صائدي الخصومات (Hunters)</a:t>
            </a:r>
            <a:endParaRPr dirty="0"/>
          </a:p>
        </p:txBody>
      </p:sp>
      <p:sp>
        <p:nvSpPr>
          <p:cNvPr id="423" name="Google Shape;423;p46"/>
          <p:cNvSpPr txBox="1"/>
          <p:nvPr/>
        </p:nvSpPr>
        <p:spPr>
          <a:xfrm>
            <a:off x="3417168" y="3184529"/>
            <a:ext cx="2309700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آسيا الوسطى: خصومات 18% مقابل إيرادات ضعيفة.</a:t>
            </a:r>
            <a:endParaRPr lang="ar-EG" sz="1350" b="0" i="0" u="none" strike="noStrike" cap="none" dirty="0">
              <a:solidFill>
                <a:srgbClr val="FFFFFF"/>
              </a:solidFill>
              <a:latin typeface="Noto Sans Arabic"/>
              <a:ea typeface="Noto Sans Arabic"/>
              <a:cs typeface="Noto Sans Arabic"/>
              <a:sym typeface="Noto Sans Arabic"/>
            </a:endParaRPr>
          </a:p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القرار: خفض ميزانية التسويق.</a:t>
            </a:r>
            <a:endParaRPr dirty="0"/>
          </a:p>
        </p:txBody>
      </p:sp>
      <p:sp>
        <p:nvSpPr>
          <p:cNvPr id="424" name="Google Shape;424;p46"/>
          <p:cNvSpPr txBox="1"/>
          <p:nvPr/>
        </p:nvSpPr>
        <p:spPr>
          <a:xfrm>
            <a:off x="614363" y="2376194"/>
            <a:ext cx="2410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الأثر المالي</a:t>
            </a:r>
            <a:endParaRPr dirty="0"/>
          </a:p>
        </p:txBody>
      </p:sp>
      <p:sp>
        <p:nvSpPr>
          <p:cNvPr id="425" name="Google Shape;425;p46"/>
          <p:cNvSpPr txBox="1"/>
          <p:nvPr/>
        </p:nvSpPr>
        <p:spPr>
          <a:xfrm>
            <a:off x="614363" y="3184529"/>
            <a:ext cx="2295600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تعظيم هوامش الربح الصافي عبر توجيه الـ ROI</a:t>
            </a:r>
            <a:r>
              <a:rPr lang="ar-EG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للأسواق الأكثر ولاءً للجودة وليس السعر.</a:t>
            </a:r>
            <a:endParaRPr dirty="0"/>
          </a:p>
        </p:txBody>
      </p:sp>
      <p:sp>
        <p:nvSpPr>
          <p:cNvPr id="426" name="Google Shape;426;p46"/>
          <p:cNvSpPr txBox="1"/>
          <p:nvPr/>
        </p:nvSpPr>
        <p:spPr>
          <a:xfrm>
            <a:off x="23217" y="713146"/>
            <a:ext cx="851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7</a:t>
            </a:r>
            <a:r>
              <a:rPr lang="ar-EG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.</a:t>
            </a:r>
            <a:r>
              <a:rPr lang="en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حساسية السعر جغرافياً</a:t>
            </a:r>
            <a:endParaRPr dirty="0"/>
          </a:p>
        </p:txBody>
      </p:sp>
      <p:sp>
        <p:nvSpPr>
          <p:cNvPr id="427" name="Google Shape;427;p46"/>
          <p:cNvSpPr/>
          <p:nvPr/>
        </p:nvSpPr>
        <p:spPr>
          <a:xfrm>
            <a:off x="8608220" y="589162"/>
            <a:ext cx="107400" cy="72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4875" y="2376860"/>
            <a:ext cx="4000500" cy="1610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2384004"/>
            <a:ext cx="4000500" cy="1595734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7"/>
          <p:cNvSpPr txBox="1"/>
          <p:nvPr/>
        </p:nvSpPr>
        <p:spPr>
          <a:xfrm>
            <a:off x="4857750" y="2515847"/>
            <a:ext cx="7144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MASS MARKET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37" name="Google Shape;437;p47"/>
          <p:cNvSpPr txBox="1"/>
          <p:nvPr/>
        </p:nvSpPr>
        <p:spPr>
          <a:xfrm>
            <a:off x="6137330" y="2492796"/>
            <a:ext cx="251189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محركات السيولة</a:t>
            </a:r>
            <a:endParaRPr dirty="0"/>
          </a:p>
        </p:txBody>
      </p:sp>
      <p:sp>
        <p:nvSpPr>
          <p:cNvPr id="438" name="Google Shape;438;p47"/>
          <p:cNvSpPr txBox="1"/>
          <p:nvPr/>
        </p:nvSpPr>
        <p:spPr>
          <a:xfrm>
            <a:off x="4900612" y="3025973"/>
            <a:ext cx="3629100" cy="872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منتجات (Nike, Perfect Fitness)</a:t>
            </a:r>
            <a:r>
              <a:rPr lang="ar-EG" sz="1350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:</a:t>
            </a:r>
            <a:r>
              <a:rPr lang="ar-EG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3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مبيعات ضخمة تضمن تدفق الكاش. تستخدم كأدوات جذب (Bundles).</a:t>
            </a:r>
            <a:endParaRPr dirty="0"/>
          </a:p>
        </p:txBody>
      </p:sp>
      <p:sp>
        <p:nvSpPr>
          <p:cNvPr id="439" name="Google Shape;439;p47"/>
          <p:cNvSpPr/>
          <p:nvPr/>
        </p:nvSpPr>
        <p:spPr>
          <a:xfrm>
            <a:off x="500062" y="2455441"/>
            <a:ext cx="585900" cy="150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7"/>
          <p:cNvSpPr txBox="1"/>
          <p:nvPr/>
        </p:nvSpPr>
        <p:spPr>
          <a:xfrm>
            <a:off x="557211" y="2446596"/>
            <a:ext cx="6716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TOP LEADERS</a:t>
            </a:r>
            <a:endParaRPr dirty="0"/>
          </a:p>
        </p:txBody>
      </p:sp>
      <p:sp>
        <p:nvSpPr>
          <p:cNvPr id="441" name="Google Shape;441;p47"/>
          <p:cNvSpPr txBox="1"/>
          <p:nvPr/>
        </p:nvSpPr>
        <p:spPr>
          <a:xfrm>
            <a:off x="2626964" y="2492796"/>
            <a:ext cx="1704817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صناع الأرباح</a:t>
            </a:r>
            <a:endParaRPr dirty="0"/>
          </a:p>
        </p:txBody>
      </p:sp>
      <p:sp>
        <p:nvSpPr>
          <p:cNvPr id="442" name="Google Shape;442;p47"/>
          <p:cNvSpPr txBox="1"/>
          <p:nvPr/>
        </p:nvSpPr>
        <p:spPr>
          <a:xfrm>
            <a:off x="607219" y="3171397"/>
            <a:ext cx="3643500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منتجات (Smart Watches)</a:t>
            </a:r>
            <a:r>
              <a:rPr lang="ar-EG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: </a:t>
            </a:r>
            <a:r>
              <a:rPr lang="en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هوامش استثنائية. تتطلب برامج ولاء (VIP)</a:t>
            </a:r>
            <a:r>
              <a:rPr lang="ar-EG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350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وتأمين مخزون استباقي.</a:t>
            </a:r>
            <a:endParaRPr dirty="0"/>
          </a:p>
        </p:txBody>
      </p:sp>
      <p:sp>
        <p:nvSpPr>
          <p:cNvPr id="443" name="Google Shape;443;p47"/>
          <p:cNvSpPr txBox="1"/>
          <p:nvPr/>
        </p:nvSpPr>
        <p:spPr>
          <a:xfrm>
            <a:off x="23217" y="713147"/>
            <a:ext cx="8513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8</a:t>
            </a:r>
            <a:r>
              <a:rPr lang="ar-EG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.</a:t>
            </a:r>
            <a:r>
              <a:rPr lang="en" sz="36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مصفوفة التقسيم التجاري للمنتجات</a:t>
            </a:r>
            <a:endParaRPr dirty="0"/>
          </a:p>
        </p:txBody>
      </p:sp>
      <p:sp>
        <p:nvSpPr>
          <p:cNvPr id="444" name="Google Shape;444;p47"/>
          <p:cNvSpPr/>
          <p:nvPr/>
        </p:nvSpPr>
        <p:spPr>
          <a:xfrm>
            <a:off x="8608218" y="713147"/>
            <a:ext cx="107100" cy="72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8"/>
          <p:cNvSpPr txBox="1"/>
          <p:nvPr/>
        </p:nvSpPr>
        <p:spPr>
          <a:xfrm>
            <a:off x="221456" y="601469"/>
            <a:ext cx="8700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STRATEGIC ROADMAP</a:t>
            </a:r>
            <a:endParaRPr dirty="0"/>
          </a:p>
        </p:txBody>
      </p:sp>
      <p:sp>
        <p:nvSpPr>
          <p:cNvPr id="451" name="Google Shape;451;p48"/>
          <p:cNvSpPr txBox="1"/>
          <p:nvPr/>
        </p:nvSpPr>
        <p:spPr>
          <a:xfrm>
            <a:off x="221456" y="1661168"/>
            <a:ext cx="8700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الخلاصة: المال، الأداء، الوقت</a:t>
            </a:r>
            <a:endParaRPr dirty="0"/>
          </a:p>
        </p:txBody>
      </p:sp>
      <p:sp>
        <p:nvSpPr>
          <p:cNvPr id="452" name="Google Shape;452;p48"/>
          <p:cNvSpPr txBox="1"/>
          <p:nvPr/>
        </p:nvSpPr>
        <p:spPr>
          <a:xfrm>
            <a:off x="6048411" y="3144397"/>
            <a:ext cx="26670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$1.3M</a:t>
            </a:r>
            <a:endParaRPr dirty="0"/>
          </a:p>
        </p:txBody>
      </p:sp>
      <p:sp>
        <p:nvSpPr>
          <p:cNvPr id="453" name="Google Shape;453;p48"/>
          <p:cNvSpPr txBox="1"/>
          <p:nvPr/>
        </p:nvSpPr>
        <p:spPr>
          <a:xfrm>
            <a:off x="6048411" y="3937353"/>
            <a:ext cx="2667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 dirty="0">
                <a:solidFill>
                  <a:srgbClr val="666666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توفير من الفئات الخاسرة</a:t>
            </a:r>
            <a:endParaRPr dirty="0"/>
          </a:p>
        </p:txBody>
      </p:sp>
      <p:sp>
        <p:nvSpPr>
          <p:cNvPr id="454" name="Google Shape;454;p48"/>
          <p:cNvSpPr txBox="1"/>
          <p:nvPr/>
        </p:nvSpPr>
        <p:spPr>
          <a:xfrm>
            <a:off x="3238574" y="3144397"/>
            <a:ext cx="26670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 b="1" i="0" u="none" strike="noStrike" cap="non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$300K</a:t>
            </a:r>
            <a:endParaRPr/>
          </a:p>
        </p:txBody>
      </p:sp>
      <p:sp>
        <p:nvSpPr>
          <p:cNvPr id="455" name="Google Shape;455;p48"/>
          <p:cNvSpPr txBox="1"/>
          <p:nvPr/>
        </p:nvSpPr>
        <p:spPr>
          <a:xfrm>
            <a:off x="3238574" y="3937353"/>
            <a:ext cx="2667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 dirty="0">
                <a:solidFill>
                  <a:srgbClr val="666666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توفير من عقلنة الخصومات</a:t>
            </a:r>
            <a:endParaRPr dirty="0"/>
          </a:p>
        </p:txBody>
      </p:sp>
      <p:sp>
        <p:nvSpPr>
          <p:cNvPr id="456" name="Google Shape;456;p48"/>
          <p:cNvSpPr txBox="1"/>
          <p:nvPr/>
        </p:nvSpPr>
        <p:spPr>
          <a:xfrm>
            <a:off x="428625" y="3144397"/>
            <a:ext cx="26673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50" b="1" i="0" u="none" strike="noStrike" cap="non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+40%</a:t>
            </a:r>
            <a:endParaRPr/>
          </a:p>
        </p:txBody>
      </p:sp>
      <p:sp>
        <p:nvSpPr>
          <p:cNvPr id="457" name="Google Shape;457;p48"/>
          <p:cNvSpPr txBox="1"/>
          <p:nvPr/>
        </p:nvSpPr>
        <p:spPr>
          <a:xfrm>
            <a:off x="428625" y="3937353"/>
            <a:ext cx="2667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 b="1" i="0" u="none" strike="noStrike" cap="none" dirty="0">
                <a:solidFill>
                  <a:srgbClr val="666666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نمو مبيعات الذروة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50"/>
          <p:cNvSpPr txBox="1"/>
          <p:nvPr/>
        </p:nvSpPr>
        <p:spPr>
          <a:xfrm>
            <a:off x="2010430" y="1450181"/>
            <a:ext cx="5123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875" b="1">
                <a:latin typeface="Noto Sans Arabic"/>
                <a:ea typeface="Noto Sans Arabic"/>
                <a:cs typeface="Noto Sans Arabic"/>
                <a:sym typeface="Noto Sans Arabic"/>
              </a:rPr>
              <a:t>MARKETS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50"/>
          <p:cNvSpPr txBox="1"/>
          <p:nvPr/>
        </p:nvSpPr>
        <p:spPr>
          <a:xfrm>
            <a:off x="2010430" y="2312273"/>
            <a:ext cx="51231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625" b="1" dirty="0">
                <a:latin typeface="Noto Sans Arabic"/>
                <a:ea typeface="Noto Sans Arabic"/>
                <a:cs typeface="Noto Sans Arabic"/>
                <a:sym typeface="Noto Sans Arabic"/>
              </a:rPr>
              <a:t>AND</a:t>
            </a:r>
            <a:endParaRPr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50"/>
          <p:cNvSpPr txBox="1"/>
          <p:nvPr/>
        </p:nvSpPr>
        <p:spPr>
          <a:xfrm>
            <a:off x="2132410" y="3031738"/>
            <a:ext cx="48792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CUSTOMERS BEHAVIOR</a:t>
            </a:r>
            <a:endParaRPr sz="2800" b="1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475" name="Google Shape;475;p50"/>
          <p:cNvSpPr txBox="1"/>
          <p:nvPr/>
        </p:nvSpPr>
        <p:spPr>
          <a:xfrm>
            <a:off x="428625" y="285750"/>
            <a:ext cx="9858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750" b="1" i="0" u="none" strike="noStrike" cap="non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0</a:t>
            </a:r>
            <a:r>
              <a:rPr lang="en" sz="6750" b="1">
                <a:latin typeface="Noto Sans Arabic"/>
                <a:ea typeface="Noto Sans Arabic"/>
                <a:cs typeface="Noto Sans Arabic"/>
                <a:sym typeface="Noto Sans Arabic"/>
              </a:rPr>
              <a:t>3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1"/>
          <p:cNvSpPr txBox="1"/>
          <p:nvPr/>
        </p:nvSpPr>
        <p:spPr>
          <a:xfrm>
            <a:off x="4727352" y="2066200"/>
            <a:ext cx="41631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7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هيمنة الأسواق الرئيسية</a:t>
            </a:r>
            <a:endParaRPr sz="1031" dirty="0"/>
          </a:p>
        </p:txBody>
      </p:sp>
      <p:sp>
        <p:nvSpPr>
          <p:cNvPr id="482" name="Google Shape;482;p51"/>
          <p:cNvSpPr txBox="1"/>
          <p:nvPr/>
        </p:nvSpPr>
        <p:spPr>
          <a:xfrm>
            <a:off x="4727352" y="2709138"/>
            <a:ext cx="3964800" cy="560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15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هناك 5</a:t>
            </a:r>
            <a:r>
              <a:rPr lang="ar-EG" sz="1215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215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أسواق رئيسية تسيطر على إجمالي المبيعات، مع تركز كبير في </a:t>
            </a:r>
            <a:r>
              <a:rPr lang="en" sz="1215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بورتو ريكو، الولايات المتحدة، وأمريكا اللاتينية.</a:t>
            </a:r>
            <a:endParaRPr sz="1031" dirty="0"/>
          </a:p>
        </p:txBody>
      </p:sp>
      <p:sp>
        <p:nvSpPr>
          <p:cNvPr id="483" name="Google Shape;483;p51"/>
          <p:cNvSpPr txBox="1"/>
          <p:nvPr/>
        </p:nvSpPr>
        <p:spPr>
          <a:xfrm>
            <a:off x="4727352" y="3337788"/>
            <a:ext cx="3964800" cy="560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15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تكرر اسم الولايات المتحدة 4</a:t>
            </a:r>
            <a:r>
              <a:rPr lang="ar-EG" sz="1215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215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مرات في قائمة الأعلى مبيعاً مما يعكس تنوعاً جغرافياً داخل الدولة الواحدة.</a:t>
            </a:r>
            <a:endParaRPr sz="1031" dirty="0"/>
          </a:p>
        </p:txBody>
      </p:sp>
      <p:sp>
        <p:nvSpPr>
          <p:cNvPr id="484" name="Google Shape;484;p51"/>
          <p:cNvSpPr txBox="1"/>
          <p:nvPr/>
        </p:nvSpPr>
        <p:spPr>
          <a:xfrm>
            <a:off x="123976" y="754646"/>
            <a:ext cx="8513400" cy="4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872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1.1 التوزيع الجغرافي للمبيعات</a:t>
            </a:r>
            <a:endParaRPr sz="1031" dirty="0"/>
          </a:p>
        </p:txBody>
      </p:sp>
      <p:sp>
        <p:nvSpPr>
          <p:cNvPr id="485" name="Google Shape;485;p51"/>
          <p:cNvSpPr/>
          <p:nvPr/>
        </p:nvSpPr>
        <p:spPr>
          <a:xfrm>
            <a:off x="8608228" y="563099"/>
            <a:ext cx="107100" cy="77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67325" tIns="33650" rIns="67325" bIns="33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6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FD1522-9FE6-8F33-2A50-9B3A796A8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10" y="1530956"/>
            <a:ext cx="4098041" cy="327843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77" y="1843645"/>
            <a:ext cx="2619301" cy="2078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5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62351" y="1843645"/>
            <a:ext cx="2619411" cy="2078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736" y="1843645"/>
            <a:ext cx="2619301" cy="207883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2"/>
          <p:cNvSpPr txBox="1"/>
          <p:nvPr/>
        </p:nvSpPr>
        <p:spPr>
          <a:xfrm>
            <a:off x="428625" y="4279664"/>
            <a:ext cx="8286600" cy="279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12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التركيز الإعلاني على المناطق الأعلى شراءً هو قرار استراتيجي منخفض المخاطر لضمان التوسع المستدام.</a:t>
            </a:r>
            <a:endParaRPr sz="1029" dirty="0"/>
          </a:p>
        </p:txBody>
      </p:sp>
      <p:sp>
        <p:nvSpPr>
          <p:cNvPr id="495" name="Google Shape;495;p52"/>
          <p:cNvSpPr txBox="1"/>
          <p:nvPr/>
        </p:nvSpPr>
        <p:spPr>
          <a:xfrm>
            <a:off x="6388971" y="2274900"/>
            <a:ext cx="20337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57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15%</a:t>
            </a:r>
            <a:endParaRPr sz="1029" dirty="0"/>
          </a:p>
        </p:txBody>
      </p:sp>
      <p:sp>
        <p:nvSpPr>
          <p:cNvPr id="496" name="Google Shape;496;p52"/>
          <p:cNvSpPr txBox="1"/>
          <p:nvPr/>
        </p:nvSpPr>
        <p:spPr>
          <a:xfrm>
            <a:off x="6388971" y="3265251"/>
            <a:ext cx="20337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3" b="0" i="0" u="none" strike="noStrike" cap="none" dirty="0">
                <a:solidFill>
                  <a:srgbClr val="666666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ميزانية تسويق رقمي مقترحة</a:t>
            </a:r>
            <a:endParaRPr sz="1029" dirty="0"/>
          </a:p>
        </p:txBody>
      </p:sp>
      <p:sp>
        <p:nvSpPr>
          <p:cNvPr id="497" name="Google Shape;497;p52"/>
          <p:cNvSpPr txBox="1"/>
          <p:nvPr/>
        </p:nvSpPr>
        <p:spPr>
          <a:xfrm>
            <a:off x="3555245" y="2136539"/>
            <a:ext cx="20337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57" b="1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3</a:t>
            </a:r>
            <a:endParaRPr sz="1029" dirty="0"/>
          </a:p>
        </p:txBody>
      </p:sp>
      <p:sp>
        <p:nvSpPr>
          <p:cNvPr id="498" name="Google Shape;498;p52"/>
          <p:cNvSpPr txBox="1"/>
          <p:nvPr/>
        </p:nvSpPr>
        <p:spPr>
          <a:xfrm>
            <a:off x="3555245" y="3265251"/>
            <a:ext cx="20337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3" b="0" i="0" u="none" strike="noStrike" cap="none" dirty="0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أهم أسواق مستهدفة</a:t>
            </a:r>
            <a:endParaRPr sz="1029" dirty="0"/>
          </a:p>
        </p:txBody>
      </p:sp>
      <p:sp>
        <p:nvSpPr>
          <p:cNvPr id="499" name="Google Shape;499;p52"/>
          <p:cNvSpPr txBox="1"/>
          <p:nvPr/>
        </p:nvSpPr>
        <p:spPr>
          <a:xfrm>
            <a:off x="721630" y="2136539"/>
            <a:ext cx="20337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57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12%</a:t>
            </a:r>
            <a:endParaRPr sz="1029" dirty="0"/>
          </a:p>
        </p:txBody>
      </p:sp>
      <p:sp>
        <p:nvSpPr>
          <p:cNvPr id="500" name="Google Shape;500;p52"/>
          <p:cNvSpPr txBox="1"/>
          <p:nvPr/>
        </p:nvSpPr>
        <p:spPr>
          <a:xfrm>
            <a:off x="721630" y="3265251"/>
            <a:ext cx="20337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3" b="0" i="0" u="none" strike="noStrike" cap="none" dirty="0">
                <a:solidFill>
                  <a:srgbClr val="666666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نمو متوقع في المبيعات</a:t>
            </a:r>
            <a:endParaRPr sz="1029" dirty="0"/>
          </a:p>
        </p:txBody>
      </p:sp>
      <p:sp>
        <p:nvSpPr>
          <p:cNvPr id="501" name="Google Shape;501;p52"/>
          <p:cNvSpPr txBox="1"/>
          <p:nvPr/>
        </p:nvSpPr>
        <p:spPr>
          <a:xfrm>
            <a:off x="-8" y="905822"/>
            <a:ext cx="85134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866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توصية:</a:t>
            </a:r>
            <a:r>
              <a:rPr lang="ar-EG" sz="2866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2866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التركيز على النمو الآمن</a:t>
            </a:r>
            <a:endParaRPr sz="1029" dirty="0"/>
          </a:p>
        </p:txBody>
      </p:sp>
      <p:sp>
        <p:nvSpPr>
          <p:cNvPr id="502" name="Google Shape;502;p52"/>
          <p:cNvSpPr/>
          <p:nvPr/>
        </p:nvSpPr>
        <p:spPr>
          <a:xfrm>
            <a:off x="8608223" y="736922"/>
            <a:ext cx="107100" cy="77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67175" tIns="33575" rIns="67175" bIns="335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2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5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3618867"/>
            <a:ext cx="8286750" cy="1214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5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1682911"/>
            <a:ext cx="8286750" cy="3150393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3"/>
          <p:cNvSpPr txBox="1"/>
          <p:nvPr/>
        </p:nvSpPr>
        <p:spPr>
          <a:xfrm>
            <a:off x="642937" y="3812115"/>
            <a:ext cx="778680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التوصية: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زيادة معدل تكرار الشراء لشريحة </a:t>
            </a: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Corporate</a:t>
            </a:r>
            <a:r>
              <a:rPr lang="ar-EG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بنسبة 20%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عبر برنامج ولاء مخصص، لتعظيم العائد من الـ AOV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المرتفع.</a:t>
            </a:r>
            <a:endParaRPr dirty="0"/>
          </a:p>
        </p:txBody>
      </p:sp>
      <p:sp>
        <p:nvSpPr>
          <p:cNvPr id="511" name="Google Shape;511;p53"/>
          <p:cNvSpPr txBox="1"/>
          <p:nvPr/>
        </p:nvSpPr>
        <p:spPr>
          <a:xfrm>
            <a:off x="85209" y="618492"/>
            <a:ext cx="8513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1.2 تحليل شرائح العملاء</a:t>
            </a:r>
            <a:endParaRPr dirty="0"/>
          </a:p>
        </p:txBody>
      </p:sp>
      <p:sp>
        <p:nvSpPr>
          <p:cNvPr id="512" name="Google Shape;512;p53"/>
          <p:cNvSpPr/>
          <p:nvPr/>
        </p:nvSpPr>
        <p:spPr>
          <a:xfrm>
            <a:off x="8553975" y="502257"/>
            <a:ext cx="107100" cy="778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5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052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5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004246"/>
            <a:ext cx="8286750" cy="3803256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54"/>
          <p:cNvSpPr txBox="1"/>
          <p:nvPr/>
        </p:nvSpPr>
        <p:spPr>
          <a:xfrm>
            <a:off x="4750593" y="3779292"/>
            <a:ext cx="396480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يناير </a:t>
            </a:r>
            <a:r>
              <a:rPr lang="ar-EG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(</a:t>
            </a: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الذروة</a:t>
            </a:r>
            <a:r>
              <a:rPr lang="ar-EG" sz="1650" b="1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):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ضرورة زيادة المخزون بنسبة 20% وتكثيف الإعلانات لتقليل نفاذ البضاعة.</a:t>
            </a:r>
            <a:endParaRPr dirty="0"/>
          </a:p>
        </p:txBody>
      </p:sp>
      <p:sp>
        <p:nvSpPr>
          <p:cNvPr id="520" name="Google Shape;520;p54"/>
          <p:cNvSpPr txBox="1"/>
          <p:nvPr/>
        </p:nvSpPr>
        <p:spPr>
          <a:xfrm>
            <a:off x="428625" y="3779292"/>
            <a:ext cx="396480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ديسمبر </a:t>
            </a:r>
            <a:r>
              <a:rPr lang="ar-EG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(</a:t>
            </a: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الركود</a:t>
            </a:r>
            <a:r>
              <a:rPr lang="ar-EG" sz="1650" b="1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):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تطبيق خصومات ترويجية (10-15%)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لتحفيز المبيعات وتحريك الراكد.</a:t>
            </a:r>
            <a:endParaRPr dirty="0"/>
          </a:p>
        </p:txBody>
      </p:sp>
      <p:sp>
        <p:nvSpPr>
          <p:cNvPr id="521" name="Google Shape;521;p54"/>
          <p:cNvSpPr txBox="1"/>
          <p:nvPr/>
        </p:nvSpPr>
        <p:spPr>
          <a:xfrm>
            <a:off x="162699" y="369398"/>
            <a:ext cx="8513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1.3 الموسمية:</a:t>
            </a:r>
            <a:r>
              <a:rPr lang="ar-EG" sz="39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39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تحليل الذروة والركود</a:t>
            </a:r>
            <a:endParaRPr dirty="0"/>
          </a:p>
        </p:txBody>
      </p:sp>
      <p:sp>
        <p:nvSpPr>
          <p:cNvPr id="522" name="Google Shape;522;p54"/>
          <p:cNvSpPr/>
          <p:nvPr/>
        </p:nvSpPr>
        <p:spPr>
          <a:xfrm>
            <a:off x="8608218" y="253163"/>
            <a:ext cx="107100" cy="765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883671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55"/>
          <p:cNvSpPr txBox="1"/>
          <p:nvPr/>
        </p:nvSpPr>
        <p:spPr>
          <a:xfrm>
            <a:off x="5853327" y="1709931"/>
            <a:ext cx="3032041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قوة الاحتفاظ بالعملاء</a:t>
            </a:r>
            <a:endParaRPr dirty="0"/>
          </a:p>
        </p:txBody>
      </p:sp>
      <p:sp>
        <p:nvSpPr>
          <p:cNvPr id="532" name="Google Shape;532;p55"/>
          <p:cNvSpPr txBox="1"/>
          <p:nvPr/>
        </p:nvSpPr>
        <p:spPr>
          <a:xfrm>
            <a:off x="1704814" y="2131028"/>
            <a:ext cx="7016345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الشركة تمتلك قاعدة قوية حيث أن أكثر من نصف العملاء يعودون للشراء مرة أخرى بمتوسط 4.8</a:t>
            </a:r>
            <a:r>
              <a:rPr lang="ar-EG" sz="160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0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أوردر لكل عميل.</a:t>
            </a:r>
            <a:endParaRPr sz="1200" dirty="0"/>
          </a:p>
        </p:txBody>
      </p:sp>
      <p:sp>
        <p:nvSpPr>
          <p:cNvPr id="533" name="Google Shape;533;p55"/>
          <p:cNvSpPr txBox="1"/>
          <p:nvPr/>
        </p:nvSpPr>
        <p:spPr>
          <a:xfrm>
            <a:off x="3438159" y="2968906"/>
            <a:ext cx="500670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إطلاق حملة Email Retention</a:t>
            </a:r>
            <a:r>
              <a:rPr lang="ar-EG" sz="160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0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تستهدف</a:t>
            </a:r>
          </a:p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العملاء غير النشطين </a:t>
            </a:r>
            <a:r>
              <a:rPr lang="ar-EG" sz="160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(</a:t>
            </a:r>
            <a:r>
              <a:rPr lang="en" sz="160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(90</a:t>
            </a:r>
            <a:r>
              <a:rPr lang="ar-EG" sz="160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0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يوم.</a:t>
            </a:r>
            <a:endParaRPr sz="1200" dirty="0"/>
          </a:p>
        </p:txBody>
      </p:sp>
      <p:sp>
        <p:nvSpPr>
          <p:cNvPr id="534" name="Google Shape;534;p55"/>
          <p:cNvSpPr txBox="1"/>
          <p:nvPr/>
        </p:nvSpPr>
        <p:spPr>
          <a:xfrm>
            <a:off x="3438159" y="3789223"/>
            <a:ext cx="50067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الهدف:</a:t>
            </a:r>
            <a:r>
              <a:rPr lang="ar-EG" sz="160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0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رفع معدل الاحتفاظ بنسبة</a:t>
            </a:r>
            <a:r>
              <a:rPr lang="ar-EG" sz="160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0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15%</a:t>
            </a:r>
            <a:r>
              <a:rPr lang="ar-EG" sz="1600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.</a:t>
            </a:r>
            <a:endParaRPr sz="1200" dirty="0"/>
          </a:p>
        </p:txBody>
      </p:sp>
      <p:sp>
        <p:nvSpPr>
          <p:cNvPr id="535" name="Google Shape;535;p55"/>
          <p:cNvSpPr txBox="1"/>
          <p:nvPr/>
        </p:nvSpPr>
        <p:spPr>
          <a:xfrm>
            <a:off x="8569210" y="2968906"/>
            <a:ext cx="152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/>
          </a:p>
        </p:txBody>
      </p:sp>
      <p:sp>
        <p:nvSpPr>
          <p:cNvPr id="536" name="Google Shape;536;p55"/>
          <p:cNvSpPr txBox="1"/>
          <p:nvPr/>
        </p:nvSpPr>
        <p:spPr>
          <a:xfrm>
            <a:off x="8569210" y="3789223"/>
            <a:ext cx="1521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 dirty="0"/>
          </a:p>
        </p:txBody>
      </p:sp>
      <p:sp>
        <p:nvSpPr>
          <p:cNvPr id="537" name="Google Shape;537;p55"/>
          <p:cNvSpPr txBox="1"/>
          <p:nvPr/>
        </p:nvSpPr>
        <p:spPr>
          <a:xfrm>
            <a:off x="22437" y="512201"/>
            <a:ext cx="8227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1.4 معدل الاحتفاظ بالعملاء</a:t>
            </a:r>
            <a:endParaRPr dirty="0"/>
          </a:p>
        </p:txBody>
      </p:sp>
      <p:sp>
        <p:nvSpPr>
          <p:cNvPr id="538" name="Google Shape;538;p55"/>
          <p:cNvSpPr/>
          <p:nvPr/>
        </p:nvSpPr>
        <p:spPr>
          <a:xfrm>
            <a:off x="8318938" y="450209"/>
            <a:ext cx="103500" cy="77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B8337B-7831-FFC8-15BF-C9A5733BA6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69" r="2371"/>
          <a:stretch>
            <a:fillRect/>
          </a:stretch>
        </p:blipFill>
        <p:spPr>
          <a:xfrm>
            <a:off x="283208" y="2730958"/>
            <a:ext cx="4389534" cy="16705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5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28302" y="1759918"/>
            <a:ext cx="2178844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5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28302" y="2238549"/>
            <a:ext cx="2178844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5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24073" y="1759918"/>
            <a:ext cx="1183072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5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94903" y="2238549"/>
            <a:ext cx="612242" cy="285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5252220-006B-5063-66CD-69C2BF854CAA}"/>
              </a:ext>
            </a:extLst>
          </p:cNvPr>
          <p:cNvGrpSpPr/>
          <p:nvPr/>
        </p:nvGrpSpPr>
        <p:grpSpPr>
          <a:xfrm>
            <a:off x="1220851" y="1265939"/>
            <a:ext cx="2737986" cy="1208868"/>
            <a:chOff x="293741" y="791019"/>
            <a:chExt cx="2737986" cy="1208868"/>
          </a:xfrm>
        </p:grpSpPr>
        <p:pic>
          <p:nvPicPr>
            <p:cNvPr id="544" name="Google Shape;544;p56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93741" y="791019"/>
              <a:ext cx="2737986" cy="1208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9" name="Google Shape;549;p56"/>
            <p:cNvSpPr txBox="1"/>
            <p:nvPr/>
          </p:nvSpPr>
          <p:spPr>
            <a:xfrm>
              <a:off x="979294" y="939923"/>
              <a:ext cx="1366880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1" i="0" u="none" strike="noStrike" cap="none" dirty="0">
                  <a:solidFill>
                    <a:srgbClr val="000000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$825K</a:t>
              </a:r>
              <a:endParaRPr sz="900" dirty="0"/>
            </a:p>
          </p:txBody>
        </p:sp>
        <p:sp>
          <p:nvSpPr>
            <p:cNvPr id="550" name="Google Shape;550;p56"/>
            <p:cNvSpPr txBox="1"/>
            <p:nvPr/>
          </p:nvSpPr>
          <p:spPr>
            <a:xfrm>
              <a:off x="572464" y="1420226"/>
              <a:ext cx="2180541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 i="0" u="none" strike="noStrike" cap="none" dirty="0">
                  <a:solidFill>
                    <a:srgbClr val="666666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إجمالي خسارة الاحتيال المشتبه به</a:t>
              </a:r>
              <a:endParaRPr sz="1050" dirty="0"/>
            </a:p>
          </p:txBody>
        </p:sp>
        <p:sp>
          <p:nvSpPr>
            <p:cNvPr id="551" name="Google Shape;551;p56"/>
            <p:cNvSpPr txBox="1"/>
            <p:nvPr/>
          </p:nvSpPr>
          <p:spPr>
            <a:xfrm>
              <a:off x="374485" y="1574107"/>
              <a:ext cx="257649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i="0" u="none" strike="noStrike" cap="none" dirty="0">
                  <a:solidFill>
                    <a:srgbClr val="333333"/>
                  </a:solidFill>
                  <a:latin typeface="Noto Sans Arabic"/>
                  <a:ea typeface="Noto Sans Arabic"/>
                  <a:cs typeface="Noto Sans Arabic"/>
                  <a:sym typeface="Noto Sans Arabic"/>
                </a:rPr>
                <a:t>أوروبا وأمريكا اللاتينية هما الأكثر تضرراً</a:t>
              </a:r>
              <a:endParaRPr sz="1050" dirty="0"/>
            </a:p>
          </p:txBody>
        </p:sp>
      </p:grpSp>
      <p:sp>
        <p:nvSpPr>
          <p:cNvPr id="552" name="Google Shape;552;p56"/>
          <p:cNvSpPr txBox="1"/>
          <p:nvPr/>
        </p:nvSpPr>
        <p:spPr>
          <a:xfrm>
            <a:off x="4784387" y="1159843"/>
            <a:ext cx="41631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الاحتيال حسب الشريحة</a:t>
            </a:r>
            <a:endParaRPr sz="1200" dirty="0"/>
          </a:p>
        </p:txBody>
      </p:sp>
      <p:sp>
        <p:nvSpPr>
          <p:cNvPr id="553" name="Google Shape;553;p56"/>
          <p:cNvSpPr txBox="1"/>
          <p:nvPr/>
        </p:nvSpPr>
        <p:spPr>
          <a:xfrm>
            <a:off x="4784387" y="3399703"/>
            <a:ext cx="396480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الحل: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تفعيل نظام Fraud Scoring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تلقائي لخفض الخسائر بنسبة 40%</a:t>
            </a:r>
            <a:endParaRPr dirty="0"/>
          </a:p>
        </p:txBody>
      </p:sp>
      <p:sp>
        <p:nvSpPr>
          <p:cNvPr id="554" name="Google Shape;554;p56"/>
          <p:cNvSpPr txBox="1"/>
          <p:nvPr/>
        </p:nvSpPr>
        <p:spPr>
          <a:xfrm>
            <a:off x="7106105" y="1791519"/>
            <a:ext cx="1643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Consumer</a:t>
            </a:r>
            <a:endParaRPr dirty="0"/>
          </a:p>
        </p:txBody>
      </p:sp>
      <p:sp>
        <p:nvSpPr>
          <p:cNvPr id="555" name="Google Shape;555;p56"/>
          <p:cNvSpPr txBox="1"/>
          <p:nvPr/>
        </p:nvSpPr>
        <p:spPr>
          <a:xfrm>
            <a:off x="7707145" y="2270150"/>
            <a:ext cx="104236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Corporate</a:t>
            </a:r>
            <a:endParaRPr dirty="0"/>
          </a:p>
        </p:txBody>
      </p:sp>
      <p:sp>
        <p:nvSpPr>
          <p:cNvPr id="556" name="Google Shape;556;p56"/>
          <p:cNvSpPr txBox="1"/>
          <p:nvPr/>
        </p:nvSpPr>
        <p:spPr>
          <a:xfrm>
            <a:off x="23217" y="357216"/>
            <a:ext cx="85137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1.5 </a:t>
            </a:r>
            <a:r>
              <a:rPr lang="ar-EG" sz="3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3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تحليل أنماط الاحتيال</a:t>
            </a:r>
            <a:endParaRPr sz="1100" dirty="0"/>
          </a:p>
        </p:txBody>
      </p:sp>
      <p:sp>
        <p:nvSpPr>
          <p:cNvPr id="557" name="Google Shape;557;p56"/>
          <p:cNvSpPr/>
          <p:nvPr/>
        </p:nvSpPr>
        <p:spPr>
          <a:xfrm>
            <a:off x="8507479" y="202236"/>
            <a:ext cx="106800" cy="77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504A66-6294-F394-75D4-0C10CAAA22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451" y="2891088"/>
            <a:ext cx="4894787" cy="193842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5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57"/>
          <p:cNvSpPr txBox="1"/>
          <p:nvPr/>
        </p:nvSpPr>
        <p:spPr>
          <a:xfrm>
            <a:off x="428625" y="1916361"/>
            <a:ext cx="80010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تحسين الأسواق:</a:t>
            </a:r>
            <a:r>
              <a:rPr lang="ar-EG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تخصيص 15%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من الميزانية لأقوى 3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أسواق (USA, PR, LATAM)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.</a:t>
            </a:r>
            <a:endParaRPr dirty="0"/>
          </a:p>
        </p:txBody>
      </p:sp>
      <p:sp>
        <p:nvSpPr>
          <p:cNvPr id="564" name="Google Shape;564;p57"/>
          <p:cNvSpPr txBox="1"/>
          <p:nvPr/>
        </p:nvSpPr>
        <p:spPr>
          <a:xfrm>
            <a:off x="428625" y="2418964"/>
            <a:ext cx="80010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برامج الولاء:</a:t>
            </a:r>
            <a:r>
              <a:rPr lang="ar-EG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استهداف عملاء Corporate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ببرامج مخصصة لرفع المبيعات بنسبة 20%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.</a:t>
            </a:r>
            <a:endParaRPr dirty="0"/>
          </a:p>
        </p:txBody>
      </p:sp>
      <p:sp>
        <p:nvSpPr>
          <p:cNvPr id="565" name="Google Shape;565;p57"/>
          <p:cNvSpPr txBox="1"/>
          <p:nvPr/>
        </p:nvSpPr>
        <p:spPr>
          <a:xfrm>
            <a:off x="428625" y="2960313"/>
            <a:ext cx="80010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إدارة المخزون:</a:t>
            </a:r>
            <a:r>
              <a:rPr lang="ar-EG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زيادة المخزون قبل شهر يناير لتفادي الـ Stockouts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.</a:t>
            </a:r>
            <a:endParaRPr dirty="0"/>
          </a:p>
        </p:txBody>
      </p:sp>
      <p:sp>
        <p:nvSpPr>
          <p:cNvPr id="566" name="Google Shape;566;p57"/>
          <p:cNvSpPr txBox="1"/>
          <p:nvPr/>
        </p:nvSpPr>
        <p:spPr>
          <a:xfrm>
            <a:off x="428625" y="3509411"/>
            <a:ext cx="80010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الأمان المالي:</a:t>
            </a:r>
            <a:r>
              <a:rPr lang="ar-EG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تطبيق أنظمة تقييم الاحتيال التلقائية في الأسواق عالية الخطورة.</a:t>
            </a:r>
            <a:endParaRPr dirty="0"/>
          </a:p>
        </p:txBody>
      </p:sp>
      <p:sp>
        <p:nvSpPr>
          <p:cNvPr id="567" name="Google Shape;567;p57"/>
          <p:cNvSpPr txBox="1"/>
          <p:nvPr/>
        </p:nvSpPr>
        <p:spPr>
          <a:xfrm>
            <a:off x="428625" y="4043013"/>
            <a:ext cx="80010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تنشيط العملاء:</a:t>
            </a:r>
            <a:r>
              <a:rPr lang="ar-EG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حملات إعادة استهداف بريدية للعملاء المنقطعين منذ 3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أشهر.</a:t>
            </a:r>
            <a:endParaRPr dirty="0"/>
          </a:p>
        </p:txBody>
      </p:sp>
      <p:sp>
        <p:nvSpPr>
          <p:cNvPr id="568" name="Google Shape;568;p57"/>
          <p:cNvSpPr txBox="1"/>
          <p:nvPr/>
        </p:nvSpPr>
        <p:spPr>
          <a:xfrm>
            <a:off x="8558213" y="1916361"/>
            <a:ext cx="157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 dirty="0"/>
          </a:p>
        </p:txBody>
      </p:sp>
      <p:sp>
        <p:nvSpPr>
          <p:cNvPr id="569" name="Google Shape;569;p57"/>
          <p:cNvSpPr txBox="1"/>
          <p:nvPr/>
        </p:nvSpPr>
        <p:spPr>
          <a:xfrm>
            <a:off x="8558213" y="2418964"/>
            <a:ext cx="157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 dirty="0"/>
          </a:p>
        </p:txBody>
      </p:sp>
      <p:sp>
        <p:nvSpPr>
          <p:cNvPr id="570" name="Google Shape;570;p57"/>
          <p:cNvSpPr txBox="1"/>
          <p:nvPr/>
        </p:nvSpPr>
        <p:spPr>
          <a:xfrm>
            <a:off x="8558213" y="2960313"/>
            <a:ext cx="157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 dirty="0"/>
          </a:p>
        </p:txBody>
      </p:sp>
      <p:sp>
        <p:nvSpPr>
          <p:cNvPr id="571" name="Google Shape;571;p57"/>
          <p:cNvSpPr txBox="1"/>
          <p:nvPr/>
        </p:nvSpPr>
        <p:spPr>
          <a:xfrm>
            <a:off x="8558213" y="3509411"/>
            <a:ext cx="157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/>
          </a:p>
        </p:txBody>
      </p:sp>
      <p:sp>
        <p:nvSpPr>
          <p:cNvPr id="572" name="Google Shape;572;p57"/>
          <p:cNvSpPr txBox="1"/>
          <p:nvPr/>
        </p:nvSpPr>
        <p:spPr>
          <a:xfrm>
            <a:off x="8558213" y="4043013"/>
            <a:ext cx="157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→</a:t>
            </a:r>
            <a:endParaRPr/>
          </a:p>
        </p:txBody>
      </p:sp>
      <p:sp>
        <p:nvSpPr>
          <p:cNvPr id="573" name="Google Shape;573;p57"/>
          <p:cNvSpPr txBox="1"/>
          <p:nvPr/>
        </p:nvSpPr>
        <p:spPr>
          <a:xfrm>
            <a:off x="23217" y="736922"/>
            <a:ext cx="8513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ملخص التوصيات الاستراتيجية</a:t>
            </a:r>
            <a:endParaRPr dirty="0"/>
          </a:p>
        </p:txBody>
      </p:sp>
      <p:sp>
        <p:nvSpPr>
          <p:cNvPr id="574" name="Google Shape;574;p57"/>
          <p:cNvSpPr/>
          <p:nvPr/>
        </p:nvSpPr>
        <p:spPr>
          <a:xfrm>
            <a:off x="8600470" y="651683"/>
            <a:ext cx="107100" cy="77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5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58"/>
          <p:cNvSpPr txBox="1"/>
          <p:nvPr/>
        </p:nvSpPr>
        <p:spPr>
          <a:xfrm>
            <a:off x="2010425" y="1450175"/>
            <a:ext cx="5376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7875" b="1">
                <a:latin typeface="Noto Sans Arabic"/>
                <a:ea typeface="Noto Sans Arabic"/>
                <a:cs typeface="Noto Sans Arabic"/>
                <a:sym typeface="Noto Sans Arabic"/>
              </a:rPr>
              <a:t>PRODUCTS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58"/>
          <p:cNvSpPr txBox="1"/>
          <p:nvPr/>
        </p:nvSpPr>
        <p:spPr>
          <a:xfrm>
            <a:off x="2010430" y="2327771"/>
            <a:ext cx="5123100" cy="8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625" b="1" dirty="0">
                <a:latin typeface="Noto Sans Arabic"/>
                <a:ea typeface="Noto Sans Arabic"/>
                <a:cs typeface="Noto Sans Arabic"/>
                <a:sym typeface="Noto Sans Arabic"/>
              </a:rPr>
              <a:t>AND</a:t>
            </a:r>
            <a:endParaRPr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58"/>
          <p:cNvSpPr txBox="1"/>
          <p:nvPr/>
        </p:nvSpPr>
        <p:spPr>
          <a:xfrm>
            <a:off x="2132410" y="3101479"/>
            <a:ext cx="48792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CATEGORIES</a:t>
            </a:r>
            <a:endParaRPr sz="3600" b="1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583" name="Google Shape;583;p58"/>
          <p:cNvSpPr txBox="1"/>
          <p:nvPr/>
        </p:nvSpPr>
        <p:spPr>
          <a:xfrm>
            <a:off x="428625" y="285750"/>
            <a:ext cx="9858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750" b="1" i="0" u="none" strike="noStrike" cap="none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0</a:t>
            </a:r>
            <a:r>
              <a:rPr lang="en" sz="6750" b="1">
                <a:latin typeface="Noto Sans Arabic"/>
                <a:ea typeface="Noto Sans Arabic"/>
                <a:cs typeface="Noto Sans Arabic"/>
                <a:sym typeface="Noto Sans Arabic"/>
              </a:rPr>
              <a:t>4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5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4984412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59"/>
          <p:cNvSpPr txBox="1"/>
          <p:nvPr/>
        </p:nvSpPr>
        <p:spPr>
          <a:xfrm>
            <a:off x="4687153" y="1747067"/>
            <a:ext cx="416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مؤشر الخطر (2017 - 2018)</a:t>
            </a:r>
            <a:endParaRPr dirty="0"/>
          </a:p>
        </p:txBody>
      </p:sp>
      <p:sp>
        <p:nvSpPr>
          <p:cNvPr id="591" name="Google Shape;591;p59"/>
          <p:cNvSpPr txBox="1"/>
          <p:nvPr/>
        </p:nvSpPr>
        <p:spPr>
          <a:xfrm>
            <a:off x="4687153" y="2246135"/>
            <a:ext cx="396480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مبيعات أفضل 9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منتجات هبطت للصفر في أكتوبر 2017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بعد هبوط مستمر منذ أغسطس.</a:t>
            </a:r>
            <a:endParaRPr dirty="0"/>
          </a:p>
        </p:txBody>
      </p:sp>
      <p:sp>
        <p:nvSpPr>
          <p:cNvPr id="592" name="Google Shape;592;p59"/>
          <p:cNvSpPr txBox="1"/>
          <p:nvPr/>
        </p:nvSpPr>
        <p:spPr>
          <a:xfrm>
            <a:off x="4687153" y="3018070"/>
            <a:ext cx="3964800" cy="114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استمر عدم الاستقرار لمدة 5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أشهر، وهو ما 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يمثل تهديد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وجود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ي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ar-EG" sz="1650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ل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لشركة</a:t>
            </a:r>
            <a:r>
              <a:rPr lang="ar-EG" sz="1650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اذا استمر الوضع لفترات أطول.</a:t>
            </a:r>
            <a:endParaRPr dirty="0"/>
          </a:p>
        </p:txBody>
      </p:sp>
      <p:sp>
        <p:nvSpPr>
          <p:cNvPr id="594" name="Google Shape;594;p59"/>
          <p:cNvSpPr txBox="1"/>
          <p:nvPr/>
        </p:nvSpPr>
        <p:spPr>
          <a:xfrm>
            <a:off x="23217" y="498982"/>
            <a:ext cx="8513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أزمة "التريند"</a:t>
            </a:r>
            <a:r>
              <a:rPr lang="ar-EG" sz="39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39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وسقوط الـ Top 9</a:t>
            </a:r>
            <a:endParaRPr dirty="0"/>
          </a:p>
        </p:txBody>
      </p:sp>
      <p:sp>
        <p:nvSpPr>
          <p:cNvPr id="595" name="Google Shape;595;p59"/>
          <p:cNvSpPr/>
          <p:nvPr/>
        </p:nvSpPr>
        <p:spPr>
          <a:xfrm>
            <a:off x="8608219" y="344002"/>
            <a:ext cx="107100" cy="75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02AB2F-B206-D11A-F9F9-E0CDD6C8ED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445"/>
          <a:stretch>
            <a:fillRect/>
          </a:stretch>
        </p:blipFill>
        <p:spPr>
          <a:xfrm>
            <a:off x="790384" y="1496361"/>
            <a:ext cx="2820721" cy="266432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Google Shape;600;p6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60"/>
          <p:cNvSpPr txBox="1"/>
          <p:nvPr/>
        </p:nvSpPr>
        <p:spPr>
          <a:xfrm>
            <a:off x="945267" y="1671063"/>
            <a:ext cx="7857900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 b="0" i="0" u="none" strike="noStrike" cap="none" dirty="0">
                <a:solidFill>
                  <a:schemeClr val="tx1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بدلاً من انتظار هبوط الكيرف، نقوم ببناء "كيرف" جديد موازي عبر تجربة المنتجات باستمرار.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03" name="Google Shape;603;p60"/>
          <p:cNvSpPr txBox="1"/>
          <p:nvPr/>
        </p:nvSpPr>
        <p:spPr>
          <a:xfrm>
            <a:off x="6375918" y="2997791"/>
            <a:ext cx="18786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5%</a:t>
            </a:r>
            <a:endParaRPr sz="1200" dirty="0"/>
          </a:p>
        </p:txBody>
      </p:sp>
      <p:sp>
        <p:nvSpPr>
          <p:cNvPr id="604" name="Google Shape;604;p60"/>
          <p:cNvSpPr txBox="1"/>
          <p:nvPr/>
        </p:nvSpPr>
        <p:spPr>
          <a:xfrm>
            <a:off x="6375918" y="3681410"/>
            <a:ext cx="187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rgbClr val="666666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تخصيص ميزانية للتجارب الجديدة</a:t>
            </a:r>
            <a:endParaRPr dirty="0"/>
          </a:p>
        </p:txBody>
      </p:sp>
      <p:sp>
        <p:nvSpPr>
          <p:cNvPr id="609" name="Google Shape;609;p60"/>
          <p:cNvSpPr txBox="1"/>
          <p:nvPr/>
        </p:nvSpPr>
        <p:spPr>
          <a:xfrm>
            <a:off x="23217" y="558695"/>
            <a:ext cx="8513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التوصية: نموذج "الهايبرد"</a:t>
            </a:r>
            <a:endParaRPr dirty="0"/>
          </a:p>
        </p:txBody>
      </p:sp>
      <p:sp>
        <p:nvSpPr>
          <p:cNvPr id="610" name="Google Shape;610;p60"/>
          <p:cNvSpPr/>
          <p:nvPr/>
        </p:nvSpPr>
        <p:spPr>
          <a:xfrm>
            <a:off x="8608219" y="434711"/>
            <a:ext cx="107100" cy="778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2EFF06-9E80-2E2A-4080-F7CBCB6415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1" t="19680" r="1155" b="1171"/>
          <a:stretch>
            <a:fillRect/>
          </a:stretch>
        </p:blipFill>
        <p:spPr>
          <a:xfrm>
            <a:off x="170481" y="2456481"/>
            <a:ext cx="5253927" cy="227825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6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6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662029"/>
            <a:ext cx="8286750" cy="2128838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61"/>
          <p:cNvSpPr txBox="1"/>
          <p:nvPr/>
        </p:nvSpPr>
        <p:spPr>
          <a:xfrm>
            <a:off x="409200" y="1889494"/>
            <a:ext cx="416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حماية قاع الأرباح</a:t>
            </a:r>
            <a:endParaRPr dirty="0"/>
          </a:p>
        </p:txBody>
      </p:sp>
      <p:sp>
        <p:nvSpPr>
          <p:cNvPr id="618" name="Google Shape;618;p61"/>
          <p:cNvSpPr txBox="1"/>
          <p:nvPr/>
        </p:nvSpPr>
        <p:spPr>
          <a:xfrm>
            <a:off x="409200" y="2330957"/>
            <a:ext cx="3964800" cy="114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يهدف هذا السيناريو إلى الحفاظ على استقرار المتجر ومنع الانهيار المالي عند سقوط المنتجات القديمة من التريند.</a:t>
            </a:r>
            <a:endParaRPr dirty="0"/>
          </a:p>
        </p:txBody>
      </p:sp>
      <p:sp>
        <p:nvSpPr>
          <p:cNvPr id="619" name="Google Shape;619;p61"/>
          <p:cNvSpPr txBox="1"/>
          <p:nvPr/>
        </p:nvSpPr>
        <p:spPr>
          <a:xfrm>
            <a:off x="409200" y="3440046"/>
            <a:ext cx="396480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النتيجة: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ضمان استمرار الأرباح عند مستوى آمن يمنع الخسائر التشغيلية.</a:t>
            </a:r>
            <a:endParaRPr dirty="0"/>
          </a:p>
        </p:txBody>
      </p:sp>
      <p:sp>
        <p:nvSpPr>
          <p:cNvPr id="620" name="Google Shape;620;p61"/>
          <p:cNvSpPr txBox="1"/>
          <p:nvPr/>
        </p:nvSpPr>
        <p:spPr>
          <a:xfrm>
            <a:off x="23217" y="736922"/>
            <a:ext cx="8513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السيناريو التحفظي </a:t>
            </a:r>
            <a:r>
              <a:rPr lang="ar-EG" sz="39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(</a:t>
            </a:r>
            <a:r>
              <a:rPr lang="en" sz="39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تجنب الانهيار</a:t>
            </a:r>
            <a:r>
              <a:rPr lang="ar-EG" sz="39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)</a:t>
            </a:r>
            <a:endParaRPr dirty="0"/>
          </a:p>
        </p:txBody>
      </p:sp>
      <p:sp>
        <p:nvSpPr>
          <p:cNvPr id="621" name="Google Shape;621;p61"/>
          <p:cNvSpPr/>
          <p:nvPr/>
        </p:nvSpPr>
        <p:spPr>
          <a:xfrm>
            <a:off x="8608217" y="605189"/>
            <a:ext cx="107100" cy="778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60"/>
          <p:cNvSpPr txBox="1"/>
          <p:nvPr/>
        </p:nvSpPr>
        <p:spPr>
          <a:xfrm>
            <a:off x="6004312" y="3587925"/>
            <a:ext cx="152880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28%</a:t>
            </a:r>
            <a:endParaRPr sz="1200" dirty="0"/>
          </a:p>
        </p:txBody>
      </p:sp>
      <p:sp>
        <p:nvSpPr>
          <p:cNvPr id="606" name="Google Shape;606;p60"/>
          <p:cNvSpPr txBox="1"/>
          <p:nvPr/>
        </p:nvSpPr>
        <p:spPr>
          <a:xfrm>
            <a:off x="6004312" y="4271544"/>
            <a:ext cx="152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 i="0" u="none" strike="noStrike" cap="none" dirty="0">
                <a:solidFill>
                  <a:srgbClr val="666666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رفع متوقع للربحية </a:t>
            </a:r>
            <a:r>
              <a:rPr lang="ar-EG" sz="1500" dirty="0">
                <a:solidFill>
                  <a:srgbClr val="666666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وقت</a:t>
            </a:r>
            <a:r>
              <a:rPr lang="en" sz="1500" b="0" i="0" u="none" strike="noStrike" cap="none" dirty="0">
                <a:solidFill>
                  <a:srgbClr val="666666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الركود</a:t>
            </a:r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6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477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6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72188" y="3207065"/>
            <a:ext cx="2643188" cy="1344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6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3207065"/>
            <a:ext cx="2643188" cy="1344895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62"/>
          <p:cNvSpPr txBox="1"/>
          <p:nvPr/>
        </p:nvSpPr>
        <p:spPr>
          <a:xfrm>
            <a:off x="742354" y="1615903"/>
            <a:ext cx="8131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اكتشاف "المنتجات الخارقة</a:t>
            </a:r>
            <a:r>
              <a:rPr lang="ar-EG" sz="2000" b="1" dirty="0">
                <a:latin typeface="Noto Sans Arabic"/>
                <a:ea typeface="Noto Sans Arabic"/>
                <a:cs typeface="Noto Sans Arabic"/>
                <a:sym typeface="Noto Sans Arabic"/>
              </a:rPr>
              <a:t>"</a:t>
            </a:r>
            <a:r>
              <a:rPr lang="en" sz="20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مثل منتج </a:t>
            </a:r>
            <a:r>
              <a:rPr lang="en" sz="2000" b="1" dirty="0">
                <a:latin typeface="Noto Sans Arabic"/>
                <a:ea typeface="Noto Sans Arabic"/>
                <a:cs typeface="Noto Sans Arabic"/>
                <a:sym typeface="Noto Sans Arabic"/>
              </a:rPr>
              <a:t>Dell Laptop</a:t>
            </a:r>
            <a:endParaRPr sz="1200" dirty="0"/>
          </a:p>
        </p:txBody>
      </p:sp>
      <p:sp>
        <p:nvSpPr>
          <p:cNvPr id="631" name="Google Shape;631;p62"/>
          <p:cNvSpPr txBox="1"/>
          <p:nvPr/>
        </p:nvSpPr>
        <p:spPr>
          <a:xfrm>
            <a:off x="1129954" y="2237947"/>
            <a:ext cx="77436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اكتشاف المنتج قبل وصوله للذروة بـ 5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أشهر يغير المعادلة المالية بالكامل.</a:t>
            </a:r>
            <a:endParaRPr dirty="0"/>
          </a:p>
        </p:txBody>
      </p:sp>
      <p:sp>
        <p:nvSpPr>
          <p:cNvPr id="632" name="Google Shape;632;p62"/>
          <p:cNvSpPr txBox="1"/>
          <p:nvPr/>
        </p:nvSpPr>
        <p:spPr>
          <a:xfrm>
            <a:off x="6293644" y="3300648"/>
            <a:ext cx="22002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$54.9K</a:t>
            </a:r>
            <a:endParaRPr sz="1000" dirty="0"/>
          </a:p>
        </p:txBody>
      </p:sp>
      <p:sp>
        <p:nvSpPr>
          <p:cNvPr id="633" name="Google Shape;633;p62"/>
          <p:cNvSpPr txBox="1"/>
          <p:nvPr/>
        </p:nvSpPr>
        <p:spPr>
          <a:xfrm>
            <a:off x="6293644" y="3761914"/>
            <a:ext cx="22002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صافي ربح شهري للمنتج الواحد</a:t>
            </a:r>
            <a:endParaRPr sz="1100" dirty="0"/>
          </a:p>
        </p:txBody>
      </p:sp>
      <p:sp>
        <p:nvSpPr>
          <p:cNvPr id="634" name="Google Shape;634;p62"/>
          <p:cNvSpPr txBox="1"/>
          <p:nvPr/>
        </p:nvSpPr>
        <p:spPr>
          <a:xfrm>
            <a:off x="3464726" y="3300648"/>
            <a:ext cx="24642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$274.5K</a:t>
            </a:r>
            <a:endParaRPr sz="1000" dirty="0"/>
          </a:p>
        </p:txBody>
      </p:sp>
      <p:sp>
        <p:nvSpPr>
          <p:cNvPr id="635" name="Google Shape;635;p62"/>
          <p:cNvSpPr txBox="1"/>
          <p:nvPr/>
        </p:nvSpPr>
        <p:spPr>
          <a:xfrm>
            <a:off x="3300394" y="3760121"/>
            <a:ext cx="26433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0" i="0" u="none" strike="noStrike" cap="none" dirty="0">
                <a:solidFill>
                  <a:schemeClr val="dk1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إجمالي أرباح مضافة في 5</a:t>
            </a:r>
            <a:r>
              <a:rPr lang="ar-EG" b="0" i="0" u="none" strike="noStrike" cap="none" dirty="0">
                <a:solidFill>
                  <a:schemeClr val="dk1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b="0" i="0" u="none" strike="noStrike" cap="none" dirty="0">
                <a:solidFill>
                  <a:schemeClr val="dk1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شهور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636" name="Google Shape;636;p62"/>
          <p:cNvSpPr txBox="1"/>
          <p:nvPr/>
        </p:nvSpPr>
        <p:spPr>
          <a:xfrm>
            <a:off x="650081" y="3300648"/>
            <a:ext cx="22002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10.98%</a:t>
            </a:r>
            <a:endParaRPr sz="1000" dirty="0"/>
          </a:p>
        </p:txBody>
      </p:sp>
      <p:sp>
        <p:nvSpPr>
          <p:cNvPr id="637" name="Google Shape;637;p62"/>
          <p:cNvSpPr txBox="1"/>
          <p:nvPr/>
        </p:nvSpPr>
        <p:spPr>
          <a:xfrm>
            <a:off x="650081" y="3761914"/>
            <a:ext cx="22002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هامش الربح المستهدف للمنتج</a:t>
            </a:r>
            <a:endParaRPr sz="1100" dirty="0"/>
          </a:p>
        </p:txBody>
      </p:sp>
      <p:sp>
        <p:nvSpPr>
          <p:cNvPr id="638" name="Google Shape;638;p62"/>
          <p:cNvSpPr txBox="1"/>
          <p:nvPr/>
        </p:nvSpPr>
        <p:spPr>
          <a:xfrm>
            <a:off x="23217" y="504025"/>
            <a:ext cx="8513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السيناريو المتفائل </a:t>
            </a:r>
            <a:r>
              <a:rPr lang="ar-EG" sz="39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(</a:t>
            </a:r>
            <a:r>
              <a:rPr lang="en" sz="39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اقتناص القمم</a:t>
            </a:r>
            <a:r>
              <a:rPr lang="ar-EG" sz="39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)</a:t>
            </a:r>
            <a:endParaRPr dirty="0"/>
          </a:p>
        </p:txBody>
      </p:sp>
      <p:sp>
        <p:nvSpPr>
          <p:cNvPr id="639" name="Google Shape;639;p62"/>
          <p:cNvSpPr/>
          <p:nvPr/>
        </p:nvSpPr>
        <p:spPr>
          <a:xfrm>
            <a:off x="8608220" y="403288"/>
            <a:ext cx="107100" cy="72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7F4EBB-3CC7-5DA6-0891-BC281DFE8C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626" y="1378419"/>
            <a:ext cx="2562655" cy="138627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6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6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6" y="1507889"/>
            <a:ext cx="3326810" cy="2742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6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50593" y="3554573"/>
            <a:ext cx="3964781" cy="83581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63"/>
          <p:cNvSpPr txBox="1"/>
          <p:nvPr/>
        </p:nvSpPr>
        <p:spPr>
          <a:xfrm>
            <a:off x="4687153" y="1848277"/>
            <a:ext cx="416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معالجة العجز المالي</a:t>
            </a:r>
            <a:endParaRPr dirty="0"/>
          </a:p>
        </p:txBody>
      </p:sp>
      <p:sp>
        <p:nvSpPr>
          <p:cNvPr id="648" name="Google Shape;648;p63"/>
          <p:cNvSpPr txBox="1"/>
          <p:nvPr/>
        </p:nvSpPr>
        <p:spPr>
          <a:xfrm>
            <a:off x="4743431" y="2537918"/>
            <a:ext cx="396480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الأرباح الناتجة من منتج "خارق" واحد كفيلة بتغطية فجوة أرباح الركود بالكامل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($156,451)</a:t>
            </a:r>
            <a:r>
              <a:rPr lang="ar-EG" sz="1650" b="0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.</a:t>
            </a:r>
            <a:endParaRPr dirty="0"/>
          </a:p>
        </p:txBody>
      </p:sp>
      <p:pic>
        <p:nvPicPr>
          <p:cNvPr id="649" name="Google Shape;649;p6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5769" y="1515033"/>
            <a:ext cx="3314821" cy="2731503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63"/>
          <p:cNvSpPr txBox="1"/>
          <p:nvPr/>
        </p:nvSpPr>
        <p:spPr>
          <a:xfrm>
            <a:off x="4893383" y="3624326"/>
            <a:ext cx="367920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$118,049</a:t>
            </a:r>
            <a:r>
              <a:rPr lang="ar-EG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650" b="1" i="0" u="none" strike="noStrike" cap="none" dirty="0">
                <a:solidFill>
                  <a:srgbClr val="333333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فائض ربح فوق المعتاد بعد سد الفجوة.</a:t>
            </a:r>
            <a:endParaRPr dirty="0"/>
          </a:p>
        </p:txBody>
      </p:sp>
      <p:sp>
        <p:nvSpPr>
          <p:cNvPr id="651" name="Google Shape;651;p63"/>
          <p:cNvSpPr txBox="1"/>
          <p:nvPr/>
        </p:nvSpPr>
        <p:spPr>
          <a:xfrm>
            <a:off x="23217" y="514908"/>
            <a:ext cx="8513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القوة المالية: سد فجوة الركود</a:t>
            </a:r>
            <a:endParaRPr dirty="0"/>
          </a:p>
        </p:txBody>
      </p:sp>
      <p:sp>
        <p:nvSpPr>
          <p:cNvPr id="652" name="Google Shape;652;p63"/>
          <p:cNvSpPr/>
          <p:nvPr/>
        </p:nvSpPr>
        <p:spPr>
          <a:xfrm>
            <a:off x="8608218" y="429669"/>
            <a:ext cx="107100" cy="77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63C5CA-CDEF-DD22-222A-A064DD39A0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74" r="3011"/>
          <a:stretch>
            <a:fillRect/>
          </a:stretch>
        </p:blipFill>
        <p:spPr>
          <a:xfrm>
            <a:off x="54243" y="873160"/>
            <a:ext cx="5401160" cy="41720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778938-6017-72B7-68DE-938F8A702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512" y="1361912"/>
            <a:ext cx="3571242" cy="3194588"/>
          </a:xfrm>
          <a:prstGeom prst="rect">
            <a:avLst/>
          </a:prstGeom>
        </p:spPr>
      </p:pic>
      <p:sp>
        <p:nvSpPr>
          <p:cNvPr id="6" name="Google Shape;651;p63">
            <a:extLst>
              <a:ext uri="{FF2B5EF4-FFF2-40B4-BE49-F238E27FC236}">
                <a16:creationId xmlns:a16="http://schemas.microsoft.com/office/drawing/2014/main" id="{60CD9E27-DA43-ACFB-1814-223BC68C514A}"/>
              </a:ext>
            </a:extLst>
          </p:cNvPr>
          <p:cNvSpPr txBox="1"/>
          <p:nvPr/>
        </p:nvSpPr>
        <p:spPr>
          <a:xfrm>
            <a:off x="154953" y="261396"/>
            <a:ext cx="8513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2400" b="1" dirty="0">
                <a:latin typeface="Noto Sans Arabic"/>
                <a:ea typeface="Noto Sans Arabic"/>
                <a:cs typeface="Noto Sans Arabic"/>
                <a:sym typeface="Noto Sans Arabic"/>
              </a:rPr>
              <a:t>المقارنة بين فترة الاستقرار والركود ونظام الهايبرد</a:t>
            </a:r>
            <a:endParaRPr sz="1000" dirty="0"/>
          </a:p>
        </p:txBody>
      </p:sp>
      <p:sp>
        <p:nvSpPr>
          <p:cNvPr id="7" name="Google Shape;652;p63">
            <a:extLst>
              <a:ext uri="{FF2B5EF4-FFF2-40B4-BE49-F238E27FC236}">
                <a16:creationId xmlns:a16="http://schemas.microsoft.com/office/drawing/2014/main" id="{21584416-A406-D007-C03D-722EC6F9F436}"/>
              </a:ext>
            </a:extLst>
          </p:cNvPr>
          <p:cNvSpPr/>
          <p:nvPr/>
        </p:nvSpPr>
        <p:spPr>
          <a:xfrm>
            <a:off x="8717797" y="144741"/>
            <a:ext cx="106010" cy="53248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2701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6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64"/>
          <p:cNvSpPr txBox="1"/>
          <p:nvPr/>
        </p:nvSpPr>
        <p:spPr>
          <a:xfrm>
            <a:off x="832050" y="2086950"/>
            <a:ext cx="74799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875" b="1" dirty="0">
                <a:latin typeface="Noto Sans Arabic"/>
                <a:ea typeface="Noto Sans Arabic"/>
                <a:cs typeface="Noto Sans Arabic"/>
                <a:sym typeface="Noto Sans Arabic"/>
              </a:rPr>
              <a:t>CONCLUSION</a:t>
            </a:r>
            <a:endParaRPr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" name="Google Shape;663;p6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65"/>
          <p:cNvSpPr txBox="1"/>
          <p:nvPr/>
        </p:nvSpPr>
        <p:spPr>
          <a:xfrm>
            <a:off x="-150" y="454084"/>
            <a:ext cx="88164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الخلاصة والتوصيات الاستراتيجية</a:t>
            </a:r>
            <a:endParaRPr sz="1100" dirty="0">
              <a:solidFill>
                <a:srgbClr val="000000"/>
              </a:solidFill>
            </a:endParaRPr>
          </a:p>
        </p:txBody>
      </p:sp>
      <p:sp>
        <p:nvSpPr>
          <p:cNvPr id="665" name="Google Shape;665;p65"/>
          <p:cNvSpPr/>
          <p:nvPr/>
        </p:nvSpPr>
        <p:spPr>
          <a:xfrm>
            <a:off x="9033150" y="0"/>
            <a:ext cx="111000" cy="154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65"/>
          <p:cNvSpPr txBox="1"/>
          <p:nvPr/>
        </p:nvSpPr>
        <p:spPr>
          <a:xfrm>
            <a:off x="5436646" y="1724860"/>
            <a:ext cx="3596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سلاسل الإمداد والشحن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667" name="Google Shape;667;p65"/>
          <p:cNvSpPr/>
          <p:nvPr/>
        </p:nvSpPr>
        <p:spPr>
          <a:xfrm>
            <a:off x="5103739" y="2139274"/>
            <a:ext cx="3757800" cy="6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65"/>
          <p:cNvSpPr txBox="1"/>
          <p:nvPr/>
        </p:nvSpPr>
        <p:spPr>
          <a:xfrm>
            <a:off x="5103739" y="2237146"/>
            <a:ext cx="37578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معالجة فشل الشحن السريع (First Class)</a:t>
            </a:r>
            <a:r>
              <a:rPr lang="ar-EG" sz="1200" b="0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عبر "اليوم الوقائي" تحمي </a:t>
            </a:r>
            <a:r>
              <a:rPr lang="en" sz="1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10.6 مليون دولار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من الإيرادات المعرضة للخطر وتخفض مخاطر التأخير بنسبة 50%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669" name="Google Shape;669;p65"/>
          <p:cNvSpPr txBox="1"/>
          <p:nvPr/>
        </p:nvSpPr>
        <p:spPr>
          <a:xfrm>
            <a:off x="1027476" y="1724860"/>
            <a:ext cx="36429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الأداء المالي والربحية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670" name="Google Shape;670;p65"/>
          <p:cNvSpPr/>
          <p:nvPr/>
        </p:nvSpPr>
        <p:spPr>
          <a:xfrm>
            <a:off x="738957" y="2139274"/>
            <a:ext cx="3757800" cy="6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65"/>
          <p:cNvSpPr txBox="1"/>
          <p:nvPr/>
        </p:nvSpPr>
        <p:spPr>
          <a:xfrm>
            <a:off x="738957" y="2237146"/>
            <a:ext cx="37578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إيقاف نزيف الفئات الخاسرة ($1.3M)</a:t>
            </a:r>
            <a:r>
              <a:rPr lang="ar-EG" sz="1200" b="0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وعقلنة الخصومات عند "النقطة الذهبية" (10-13%) يوفر للشركة </a:t>
            </a:r>
            <a:r>
              <a:rPr lang="en" sz="12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1.6 مليون دولار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سنوياً تضاف لصافي الربح.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672" name="Google Shape;672;p65"/>
          <p:cNvSpPr txBox="1"/>
          <p:nvPr/>
        </p:nvSpPr>
        <p:spPr>
          <a:xfrm>
            <a:off x="5436646" y="3208622"/>
            <a:ext cx="3596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سلوك الأسواق والعملاء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673" name="Google Shape;673;p65"/>
          <p:cNvSpPr/>
          <p:nvPr/>
        </p:nvSpPr>
        <p:spPr>
          <a:xfrm>
            <a:off x="5103739" y="3623036"/>
            <a:ext cx="3757800" cy="6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65"/>
          <p:cNvSpPr txBox="1"/>
          <p:nvPr/>
        </p:nvSpPr>
        <p:spPr>
          <a:xfrm>
            <a:off x="5103739" y="3720908"/>
            <a:ext cx="37578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تحويل 30%</a:t>
            </a:r>
            <a:r>
              <a:rPr lang="ar-EG" sz="1200" b="0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من عملاء الكاش إلى الدفع الإلكتروني يرفع قيمة الطلب (AOV)</a:t>
            </a:r>
            <a:r>
              <a:rPr lang="ar-EG" sz="1200" b="0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بنسبة 40%، مع ضرورة غلق ثغرة التحويل البنكي (Transfer)</a:t>
            </a:r>
            <a:r>
              <a:rPr lang="ar-EG" sz="1200" b="0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لوقف الاحتيال.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675" name="Google Shape;675;p65"/>
          <p:cNvSpPr txBox="1"/>
          <p:nvPr/>
        </p:nvSpPr>
        <p:spPr>
          <a:xfrm>
            <a:off x="1027476" y="3208622"/>
            <a:ext cx="36429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استراتيجية النمو (Hybrid)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676" name="Google Shape;676;p65"/>
          <p:cNvSpPr/>
          <p:nvPr/>
        </p:nvSpPr>
        <p:spPr>
          <a:xfrm>
            <a:off x="738957" y="3623036"/>
            <a:ext cx="3757800" cy="6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65"/>
          <p:cNvSpPr txBox="1"/>
          <p:nvPr/>
        </p:nvSpPr>
        <p:spPr>
          <a:xfrm>
            <a:off x="738957" y="3720908"/>
            <a:ext cx="37578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تخصيص 5%</a:t>
            </a:r>
            <a:r>
              <a:rPr lang="ar-EG" sz="1200" b="0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لمشاريع الابتكار يضمن استدامة منحنى النمو</a:t>
            </a:r>
            <a:endParaRPr lang="ar-EG" sz="1200" b="0" i="0" u="none" strike="noStrike" cap="none" dirty="0">
              <a:solidFill>
                <a:srgbClr val="000000"/>
              </a:solidFill>
              <a:latin typeface="Noto Sans Arabic"/>
              <a:ea typeface="Noto Sans Arabic"/>
              <a:cs typeface="Noto Sans Arabic"/>
              <a:sym typeface="Noto Sans Arabic"/>
            </a:endParaRPr>
          </a:p>
          <a:p>
            <a:pPr marL="0" marR="0" lvl="0" indent="0" algn="r" rtl="1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 (S-Curve) وسد فجوة أرباح الركود عبر اكتشاف "المنتجات الخارقة" قبل المنافسين.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678" name="Google Shape;678;p65"/>
          <p:cNvSpPr txBox="1"/>
          <p:nvPr/>
        </p:nvSpPr>
        <p:spPr>
          <a:xfrm>
            <a:off x="6951373" y="4678606"/>
            <a:ext cx="21399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i="0" u="none" strike="noStrike" cap="none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$1.6M+</a:t>
            </a:r>
            <a:endParaRPr/>
          </a:p>
        </p:txBody>
      </p:sp>
      <p:sp>
        <p:nvSpPr>
          <p:cNvPr id="679" name="Google Shape;679;p65"/>
          <p:cNvSpPr txBox="1"/>
          <p:nvPr/>
        </p:nvSpPr>
        <p:spPr>
          <a:xfrm>
            <a:off x="6951373" y="5143500"/>
            <a:ext cx="21399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 u="none" strike="noStrike" cap="none">
                <a:solidFill>
                  <a:srgbClr val="777777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إجمالي التوفير السنوي</a:t>
            </a:r>
            <a:endParaRPr/>
          </a:p>
        </p:txBody>
      </p:sp>
      <p:sp>
        <p:nvSpPr>
          <p:cNvPr id="680" name="Google Shape;680;p65"/>
          <p:cNvSpPr txBox="1"/>
          <p:nvPr/>
        </p:nvSpPr>
        <p:spPr>
          <a:xfrm>
            <a:off x="4804122" y="4678606"/>
            <a:ext cx="21399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i="0" u="none" strike="noStrike" cap="none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39%</a:t>
            </a:r>
            <a:endParaRPr/>
          </a:p>
        </p:txBody>
      </p:sp>
      <p:sp>
        <p:nvSpPr>
          <p:cNvPr id="681" name="Google Shape;681;p65"/>
          <p:cNvSpPr txBox="1"/>
          <p:nvPr/>
        </p:nvSpPr>
        <p:spPr>
          <a:xfrm>
            <a:off x="4804122" y="5143500"/>
            <a:ext cx="21399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 u="none" strike="noStrike" cap="none">
                <a:solidFill>
                  <a:srgbClr val="777777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رفع الربحية في الركود</a:t>
            </a:r>
            <a:endParaRPr/>
          </a:p>
        </p:txBody>
      </p:sp>
      <p:sp>
        <p:nvSpPr>
          <p:cNvPr id="682" name="Google Shape;682;p65"/>
          <p:cNvSpPr txBox="1"/>
          <p:nvPr/>
        </p:nvSpPr>
        <p:spPr>
          <a:xfrm>
            <a:off x="2656872" y="4678606"/>
            <a:ext cx="21399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i="0" u="none" strike="noStrike" cap="none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1.83%</a:t>
            </a:r>
            <a:endParaRPr/>
          </a:p>
        </p:txBody>
      </p:sp>
      <p:sp>
        <p:nvSpPr>
          <p:cNvPr id="683" name="Google Shape;683;p65"/>
          <p:cNvSpPr txBox="1"/>
          <p:nvPr/>
        </p:nvSpPr>
        <p:spPr>
          <a:xfrm>
            <a:off x="2656872" y="5143500"/>
            <a:ext cx="21399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 u="none" strike="noStrike" cap="none">
                <a:solidFill>
                  <a:srgbClr val="777777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معدل الإلغاء المستهدف</a:t>
            </a:r>
            <a:endParaRPr/>
          </a:p>
        </p:txBody>
      </p:sp>
      <p:sp>
        <p:nvSpPr>
          <p:cNvPr id="684" name="Google Shape;684;p65"/>
          <p:cNvSpPr txBox="1"/>
          <p:nvPr/>
        </p:nvSpPr>
        <p:spPr>
          <a:xfrm>
            <a:off x="509621" y="4678606"/>
            <a:ext cx="21399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i="0" u="none" strike="noStrike" cap="none">
                <a:solidFill>
                  <a:srgbClr val="FFFFFF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ZERO</a:t>
            </a:r>
            <a:endParaRPr/>
          </a:p>
        </p:txBody>
      </p:sp>
      <p:sp>
        <p:nvSpPr>
          <p:cNvPr id="685" name="Google Shape;685;p65"/>
          <p:cNvSpPr txBox="1"/>
          <p:nvPr/>
        </p:nvSpPr>
        <p:spPr>
          <a:xfrm>
            <a:off x="509621" y="5143500"/>
            <a:ext cx="21399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0" i="0" u="none" strike="noStrike" cap="none">
                <a:solidFill>
                  <a:srgbClr val="777777"/>
                </a:solidFill>
                <a:latin typeface="Noto Sans Arabic"/>
                <a:ea typeface="Noto Sans Arabic"/>
                <a:cs typeface="Noto Sans Arabic"/>
                <a:sym typeface="Noto Sans Arabic"/>
              </a:rPr>
              <a:t>ثغرات مالية (FRAUD)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66" title="monochromatic-urban-minimal-landscape (1)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69" r="179"/>
          <a:stretch/>
        </p:blipFill>
        <p:spPr>
          <a:xfrm>
            <a:off x="-6750" y="-3475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66"/>
          <p:cNvSpPr txBox="1">
            <a:spLocks noGrp="1"/>
          </p:cNvSpPr>
          <p:nvPr>
            <p:ph type="body" idx="4294967295"/>
          </p:nvPr>
        </p:nvSpPr>
        <p:spPr>
          <a:xfrm>
            <a:off x="-6750" y="4153825"/>
            <a:ext cx="40533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Inspirational words</a:t>
            </a:r>
            <a:endParaRPr/>
          </a:p>
        </p:txBody>
      </p:sp>
      <p:sp>
        <p:nvSpPr>
          <p:cNvPr id="6" name="Google Shape;658;p64">
            <a:extLst>
              <a:ext uri="{FF2B5EF4-FFF2-40B4-BE49-F238E27FC236}">
                <a16:creationId xmlns:a16="http://schemas.microsoft.com/office/drawing/2014/main" id="{28E78E89-DAE8-B8E1-6F6A-429E62EB8385}"/>
              </a:ext>
            </a:extLst>
          </p:cNvPr>
          <p:cNvSpPr txBox="1"/>
          <p:nvPr/>
        </p:nvSpPr>
        <p:spPr>
          <a:xfrm>
            <a:off x="-6751" y="878082"/>
            <a:ext cx="4935211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80000"/>
              </a:lnSpc>
            </a:pPr>
            <a:r>
              <a:rPr lang="en-US" sz="7200" b="1" dirty="0"/>
              <a:t>THANKS!</a:t>
            </a:r>
            <a:endParaRPr sz="5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for Business by Slidesgo">
  <a:themeElements>
    <a:clrScheme name="Simple Light">
      <a:dk1>
        <a:srgbClr val="191919"/>
      </a:dk1>
      <a:lt1>
        <a:srgbClr val="FFFFFF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1632</Words>
  <Application>Microsoft Office PowerPoint</Application>
  <PresentationFormat>On-screen Show (16:9)</PresentationFormat>
  <Paragraphs>257</Paragraphs>
  <Slides>49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Funnel Display</vt:lpstr>
      <vt:lpstr>Calibri</vt:lpstr>
      <vt:lpstr>Arial</vt:lpstr>
      <vt:lpstr>Noto Sans Arabic</vt:lpstr>
      <vt:lpstr>DM Sans</vt:lpstr>
      <vt:lpstr>Nunito Light</vt:lpstr>
      <vt:lpstr>Minimalist for Business by Slidesgo</vt:lpstr>
      <vt:lpstr>DataCo SMART SUPPLY CHAIN  FOR BIG DATA ANALYSIS</vt:lpstr>
      <vt:lpstr>Data Analysis Team</vt:lpstr>
      <vt:lpstr>PowerPoint Presentation</vt:lpstr>
      <vt:lpstr>WHAT IS THIS DATA ABOUT?</vt:lpstr>
      <vt:lpstr>DATA CLEANING</vt:lpstr>
      <vt:lpstr>PowerPoint Presentation</vt:lpstr>
      <vt:lpstr>BEFORE</vt:lpstr>
      <vt:lpstr>NAN HANDLING</vt:lpstr>
      <vt:lpstr>RECATEGORIZATION</vt:lpstr>
      <vt:lpstr>RECTEGORIZATION</vt:lpstr>
      <vt:lpstr>DATA SPLITTING</vt:lpstr>
      <vt:lpstr>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DELL</cp:lastModifiedBy>
  <cp:revision>34</cp:revision>
  <dcterms:modified xsi:type="dcterms:W3CDTF">2026-05-07T01:08:26Z</dcterms:modified>
</cp:coreProperties>
</file>